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7" r:id="rId1"/>
  </p:sldMasterIdLst>
  <p:notesMasterIdLst>
    <p:notesMasterId r:id="rId31"/>
  </p:notesMasterIdLst>
  <p:sldIdLst>
    <p:sldId id="284" r:id="rId2"/>
    <p:sldId id="256" r:id="rId3"/>
    <p:sldId id="257" r:id="rId4"/>
    <p:sldId id="258" r:id="rId5"/>
    <p:sldId id="259" r:id="rId6"/>
    <p:sldId id="274" r:id="rId7"/>
    <p:sldId id="260" r:id="rId8"/>
    <p:sldId id="275" r:id="rId9"/>
    <p:sldId id="261" r:id="rId10"/>
    <p:sldId id="276" r:id="rId11"/>
    <p:sldId id="262" r:id="rId12"/>
    <p:sldId id="277" r:id="rId13"/>
    <p:sldId id="278" r:id="rId14"/>
    <p:sldId id="263" r:id="rId15"/>
    <p:sldId id="279" r:id="rId16"/>
    <p:sldId id="264" r:id="rId17"/>
    <p:sldId id="280" r:id="rId18"/>
    <p:sldId id="265" r:id="rId19"/>
    <p:sldId id="266" r:id="rId20"/>
    <p:sldId id="267" r:id="rId21"/>
    <p:sldId id="268" r:id="rId22"/>
    <p:sldId id="281" r:id="rId23"/>
    <p:sldId id="282" r:id="rId24"/>
    <p:sldId id="283" r:id="rId25"/>
    <p:sldId id="269" r:id="rId26"/>
    <p:sldId id="270" r:id="rId27"/>
    <p:sldId id="271" r:id="rId28"/>
    <p:sldId id="272" r:id="rId29"/>
    <p:sldId id="273"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97E066-732F-4EB4-82D9-F5AF6069B248}" type="datetimeFigureOut">
              <a:rPr lang="en-IN" smtClean="0"/>
              <a:t>27-11-2025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042D1-1FCC-4B29-8995-5AD3989DBEC4}" type="slidenum">
              <a:rPr lang="en-IN" smtClean="0"/>
              <a:t>‹#›</a:t>
            </a:fld>
            <a:endParaRPr lang="en-IN"/>
          </a:p>
        </p:txBody>
      </p:sp>
    </p:spTree>
    <p:extLst>
      <p:ext uri="{BB962C8B-B14F-4D97-AF65-F5344CB8AC3E}">
        <p14:creationId xmlns:p14="http://schemas.microsoft.com/office/powerpoint/2010/main" val="2156328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0042D1-1FCC-4B29-8995-5AD3989DBEC4}" type="slidenum">
              <a:rPr lang="en-IN" smtClean="0"/>
              <a:t>8</a:t>
            </a:fld>
            <a:endParaRPr lang="en-IN"/>
          </a:p>
        </p:txBody>
      </p:sp>
    </p:spTree>
    <p:extLst>
      <p:ext uri="{BB962C8B-B14F-4D97-AF65-F5344CB8AC3E}">
        <p14:creationId xmlns:p14="http://schemas.microsoft.com/office/powerpoint/2010/main" val="1343892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endParaRPr lang="en-IN" dirty="0"/>
          </a:p>
        </p:txBody>
      </p:sp>
      <p:sp>
        <p:nvSpPr>
          <p:cNvPr id="4" name="Slide Number Placeholder 3"/>
          <p:cNvSpPr>
            <a:spLocks noGrp="1"/>
          </p:cNvSpPr>
          <p:nvPr>
            <p:ph type="sldNum" sz="quarter" idx="5"/>
          </p:nvPr>
        </p:nvSpPr>
        <p:spPr/>
        <p:txBody>
          <a:bodyPr/>
          <a:lstStyle/>
          <a:p>
            <a:fld id="{CE0042D1-1FCC-4B29-8995-5AD3989DBEC4}" type="slidenum">
              <a:rPr lang="en-IN" smtClean="0"/>
              <a:t>29</a:t>
            </a:fld>
            <a:endParaRPr lang="en-IN"/>
          </a:p>
        </p:txBody>
      </p:sp>
    </p:spTree>
    <p:extLst>
      <p:ext uri="{BB962C8B-B14F-4D97-AF65-F5344CB8AC3E}">
        <p14:creationId xmlns:p14="http://schemas.microsoft.com/office/powerpoint/2010/main" val="529136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2628" y="770467"/>
            <a:ext cx="8086725"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500634" y="4198409"/>
            <a:ext cx="6921151" cy="1645920"/>
          </a:xfrm>
        </p:spPr>
        <p:txBody>
          <a:bodyPr>
            <a:normAutofit/>
          </a:bodyPr>
          <a:lstStyle>
            <a:lvl1pPr marL="0" indent="0" algn="l">
              <a:buNone/>
              <a:defRPr sz="2800">
                <a:solidFill>
                  <a:srgbClr val="262626"/>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fld id="{5BCAD085-E8A6-8845-BD4E-CB4CCA059FC4}" type="datetimeFigureOut">
              <a:rPr lang="en-US" smtClean="0"/>
              <a:t>11/27/2025</a:t>
            </a:fld>
            <a:endParaRPr lang="en-US"/>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0143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1698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2628" y="767419"/>
            <a:ext cx="8085582" cy="3355848"/>
          </a:xfrm>
        </p:spPr>
        <p:txBody>
          <a:bodyPr anchor="b">
            <a:normAutofit/>
          </a:bodyPr>
          <a:lstStyle>
            <a:lvl1pPr>
              <a:lnSpc>
                <a:spcPct val="80000"/>
              </a:lnSpc>
              <a:defRPr sz="80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00634" y="4187275"/>
            <a:ext cx="6919722" cy="1645920"/>
          </a:xfrm>
        </p:spPr>
        <p:txBody>
          <a:bodyPr anchor="t">
            <a:normAutofit/>
          </a:bodyPr>
          <a:lstStyle>
            <a:lvl1pPr marL="0" indent="0">
              <a:buNone/>
              <a:defRPr sz="28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95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7492"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7738"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78776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07492" y="2032000"/>
            <a:ext cx="3806190" cy="723400"/>
          </a:xfrm>
        </p:spPr>
        <p:txBody>
          <a:bodyPr anchor="ctr">
            <a:normAutofit/>
          </a:bodyPr>
          <a:lstStyle>
            <a:lvl1pPr marL="0" indent="0">
              <a:spcBef>
                <a:spcPts val="0"/>
              </a:spcBef>
              <a:buNone/>
              <a:defRPr sz="20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7492" y="2736150"/>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66310" y="2029968"/>
            <a:ext cx="3806190" cy="722376"/>
          </a:xfrm>
        </p:spPr>
        <p:txBody>
          <a:bodyPr anchor="ctr">
            <a:normAutofit/>
          </a:bodyPr>
          <a:lstStyle>
            <a:lvl1pPr marL="0" indent="0">
              <a:spcBef>
                <a:spcPts val="0"/>
              </a:spcBef>
              <a:buNone/>
              <a:defRPr sz="20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310" y="2734056"/>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9569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6639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6657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5715000" y="0"/>
            <a:ext cx="3429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6196053" y="542282"/>
            <a:ext cx="2537460" cy="1920240"/>
          </a:xfrm>
        </p:spPr>
        <p:txBody>
          <a:bodyPr anchor="b">
            <a:noAutofit/>
          </a:bodyPr>
          <a:lstStyle>
            <a:lvl1pPr>
              <a:lnSpc>
                <a:spcPct val="85000"/>
              </a:lnSpc>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1500" y="762000"/>
            <a:ext cx="4572000" cy="4572000"/>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06987" y="2511813"/>
            <a:ext cx="254889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5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73647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918" y="5418668"/>
            <a:ext cx="8085582" cy="613283"/>
          </a:xfrm>
        </p:spPr>
        <p:txBody>
          <a:bodyPr anchor="b">
            <a:normAutofit/>
          </a:bodyPr>
          <a:lstStyle>
            <a:lvl1pPr>
              <a:lnSpc>
                <a:spcPct val="85000"/>
              </a:lnSpc>
              <a:defRPr sz="2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9144000" cy="5330952"/>
          </a:xfrm>
          <a:solidFill>
            <a:schemeClr val="accent1">
              <a:lumMod val="20000"/>
              <a:lumOff val="80000"/>
            </a:schemeClr>
          </a:solidFill>
        </p:spPr>
        <p:txBody>
          <a:bodyPr anchor="t"/>
          <a:lstStyle>
            <a:lvl1pPr marL="0" indent="0" algn="ctr">
              <a:spcBef>
                <a:spcPts val="800"/>
              </a:spcBef>
              <a:buNone/>
              <a:defRPr sz="3200">
                <a:solidFill>
                  <a:srgbClr val="4D4D4D"/>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07492" y="5909735"/>
            <a:ext cx="6922008" cy="533400"/>
          </a:xfrm>
        </p:spPr>
        <p:txBody>
          <a:bodyPr>
            <a:normAutofit/>
          </a:bodyPr>
          <a:lstStyle>
            <a:lvl1pPr marL="0" indent="0">
              <a:lnSpc>
                <a:spcPct val="90000"/>
              </a:lnSpc>
              <a:spcBef>
                <a:spcPts val="1200"/>
              </a:spcBef>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75000"/>
                  </a:srgbClr>
                </a:solidFill>
              </a:defRPr>
            </a:lvl1p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lvl1pPr>
              <a:defRPr>
                <a:solidFill>
                  <a:srgbClr val="FFFFFF">
                    <a:alpha val="75000"/>
                  </a:srgb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7692540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0399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7963" y="695325"/>
            <a:ext cx="1971675"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8644" y="714376"/>
            <a:ext cx="5800725"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1731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2919" y="499533"/>
            <a:ext cx="8079581"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07206" y="1993393"/>
            <a:ext cx="8065294"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4350" y="6412447"/>
            <a:ext cx="3086100" cy="228600"/>
          </a:xfrm>
          <a:prstGeom prst="rect">
            <a:avLst/>
          </a:prstGeom>
        </p:spPr>
        <p:txBody>
          <a:bodyPr vert="horz" lIns="91440" tIns="45720" rIns="91440" bIns="45720" rtlCol="0" anchor="ctr"/>
          <a:lstStyle>
            <a:lvl1pPr algn="l">
              <a:defRPr sz="950">
                <a:solidFill>
                  <a:schemeClr val="tx1">
                    <a:alpha val="75000"/>
                  </a:schemeClr>
                </a:solidFill>
              </a:defRPr>
            </a:lvl1pPr>
          </a:lstStyle>
          <a:p>
            <a:fld id="{5BCAD085-E8A6-8845-BD4E-CB4CCA059FC4}" type="datetimeFigureOut">
              <a:rPr lang="en-US" smtClean="0"/>
              <a:t>11/27/2025</a:t>
            </a:fld>
            <a:endParaRPr lang="en-US"/>
          </a:p>
        </p:txBody>
      </p:sp>
      <p:sp>
        <p:nvSpPr>
          <p:cNvPr id="5" name="Footer Placeholder 4"/>
          <p:cNvSpPr>
            <a:spLocks noGrp="1"/>
          </p:cNvSpPr>
          <p:nvPr>
            <p:ph type="ftr" sz="quarter" idx="3"/>
          </p:nvPr>
        </p:nvSpPr>
        <p:spPr>
          <a:xfrm>
            <a:off x="514350" y="6554697"/>
            <a:ext cx="3771900" cy="228600"/>
          </a:xfrm>
          <a:prstGeom prst="rect">
            <a:avLst/>
          </a:prstGeom>
        </p:spPr>
        <p:txBody>
          <a:bodyPr vert="horz" lIns="91440" tIns="45720" rIns="91440" bIns="45720" rtlCol="0" anchor="ctr"/>
          <a:lstStyle>
            <a:lvl1pPr algn="l">
              <a:defRPr sz="950" cap="all" baseline="0">
                <a:solidFill>
                  <a:schemeClr val="tx1">
                    <a:alpha val="75000"/>
                  </a:schemeClr>
                </a:solidFill>
              </a:defRPr>
            </a:lvl1pPr>
          </a:lstStyle>
          <a:p>
            <a:endParaRPr lang="en-US"/>
          </a:p>
        </p:txBody>
      </p:sp>
      <p:sp>
        <p:nvSpPr>
          <p:cNvPr id="6" name="Slide Number Placeholder 5"/>
          <p:cNvSpPr>
            <a:spLocks noGrp="1"/>
          </p:cNvSpPr>
          <p:nvPr>
            <p:ph type="sldNum" sz="quarter" idx="4"/>
          </p:nvPr>
        </p:nvSpPr>
        <p:spPr>
          <a:xfrm>
            <a:off x="6541193" y="5829748"/>
            <a:ext cx="2194560" cy="1397039"/>
          </a:xfrm>
          <a:prstGeom prst="rect">
            <a:avLst/>
          </a:prstGeom>
        </p:spPr>
        <p:txBody>
          <a:bodyPr vert="horz" lIns="91440" tIns="45720" rIns="91440" bIns="45720" rtlCol="0" anchor="b"/>
          <a:lstStyle>
            <a:lvl1pPr algn="r">
              <a:defRPr sz="9000" b="0">
                <a:ln>
                  <a:noFill/>
                </a:ln>
                <a:solidFill>
                  <a:schemeClr val="accent1">
                    <a:alpha val="20000"/>
                  </a:schemeClr>
                </a:solidFill>
                <a:latin typeface="+mj-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444779075"/>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txStyles>
    <p:title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9933"/>
        </a:solidFill>
        <a:effectLst/>
      </p:bgPr>
    </p:bg>
    <p:spTree>
      <p:nvGrpSpPr>
        <p:cNvPr id="1" name=""/>
        <p:cNvGrpSpPr/>
        <p:nvPr/>
      </p:nvGrpSpPr>
      <p:grpSpPr>
        <a:xfrm>
          <a:off x="0" y="0"/>
          <a:ext cx="0" cy="0"/>
          <a:chOff x="0" y="0"/>
          <a:chExt cx="0" cy="0"/>
        </a:xfrm>
      </p:grpSpPr>
      <p:sp>
        <p:nvSpPr>
          <p:cNvPr id="2" name="TextBox 1"/>
          <p:cNvSpPr txBox="1"/>
          <p:nvPr/>
        </p:nvSpPr>
        <p:spPr>
          <a:xfrm>
            <a:off x="457200" y="3200400"/>
            <a:ext cx="8229600" cy="1371600"/>
          </a:xfrm>
          <a:prstGeom prst="rect">
            <a:avLst/>
          </a:prstGeom>
          <a:noFill/>
        </p:spPr>
        <p:txBody>
          <a:bodyPr wrap="none">
            <a:spAutoFit/>
          </a:bodyPr>
          <a:lstStyle/>
          <a:p>
            <a:pPr algn="ctr">
              <a:defRPr sz="4400" b="1">
                <a:solidFill>
                  <a:srgbClr val="FFFFFF"/>
                </a:solidFill>
                <a:latin typeface="Montserrat"/>
              </a:defRPr>
            </a:pPr>
            <a:r>
              <a:t>MandirSync</a:t>
            </a:r>
          </a:p>
        </p:txBody>
      </p:sp>
      <p:sp>
        <p:nvSpPr>
          <p:cNvPr id="3" name="TextBox 2"/>
          <p:cNvSpPr txBox="1"/>
          <p:nvPr/>
        </p:nvSpPr>
        <p:spPr>
          <a:xfrm>
            <a:off x="914400" y="4389120"/>
            <a:ext cx="7315200" cy="914400"/>
          </a:xfrm>
          <a:prstGeom prst="rect">
            <a:avLst/>
          </a:prstGeom>
          <a:noFill/>
        </p:spPr>
        <p:txBody>
          <a:bodyPr wrap="none">
            <a:spAutoFit/>
          </a:bodyPr>
          <a:lstStyle/>
          <a:p>
            <a:pPr algn="ctr">
              <a:defRPr sz="2400">
                <a:solidFill>
                  <a:srgbClr val="FFFFFF"/>
                </a:solidFill>
                <a:latin typeface="Roboto"/>
              </a:defRPr>
            </a:pPr>
            <a:r>
              <a:t>Integrated Temple Management Software</a:t>
            </a:r>
            <a:br/>
            <a:r>
              <a:t>Simplifying Seva, Accounting &amp; Administration</a:t>
            </a:r>
          </a:p>
        </p:txBody>
      </p:sp>
      <p:sp>
        <p:nvSpPr>
          <p:cNvPr id="4" name="Oval 3"/>
          <p:cNvSpPr/>
          <p:nvPr/>
        </p:nvSpPr>
        <p:spPr>
          <a:xfrm>
            <a:off x="3657600" y="914400"/>
            <a:ext cx="1828800" cy="1828800"/>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0" y="1645920"/>
            <a:ext cx="2743200" cy="914400"/>
          </a:xfrm>
          <a:prstGeom prst="rect">
            <a:avLst/>
          </a:prstGeom>
          <a:noFill/>
        </p:spPr>
        <p:txBody>
          <a:bodyPr wrap="none">
            <a:spAutoFit/>
          </a:bodyPr>
          <a:lstStyle/>
          <a:p>
            <a:pPr algn="ctr">
              <a:defRPr sz="1000"/>
            </a:pPr>
            <a:r>
              <a:rPr dirty="0"/>
              <a:t>Insert Video Here</a:t>
            </a:r>
            <a:br>
              <a:rPr dirty="0"/>
            </a:br>
            <a:r>
              <a:rPr dirty="0"/>
              <a:t>(mandirsync-logo.mp4)</a:t>
            </a:r>
          </a:p>
        </p:txBody>
      </p:sp>
      <p:sp>
        <p:nvSpPr>
          <p:cNvPr id="6" name="TextBox 5"/>
          <p:cNvSpPr txBox="1"/>
          <p:nvPr/>
        </p:nvSpPr>
        <p:spPr>
          <a:xfrm>
            <a:off x="457200" y="5943600"/>
            <a:ext cx="8229600" cy="457200"/>
          </a:xfrm>
          <a:prstGeom prst="rect">
            <a:avLst/>
          </a:prstGeom>
          <a:noFill/>
        </p:spPr>
        <p:txBody>
          <a:bodyPr wrap="none">
            <a:spAutoFit/>
          </a:bodyPr>
          <a:lstStyle/>
          <a:p>
            <a:pPr algn="ctr">
              <a:defRPr i="1">
                <a:solidFill>
                  <a:srgbClr val="FFFFFF"/>
                </a:solidFill>
              </a:defRPr>
            </a:pPr>
            <a:r>
              <a:t>"Sacred workflows, simplified."</a:t>
            </a:r>
          </a:p>
        </p:txBody>
      </p:sp>
      <p:pic>
        <p:nvPicPr>
          <p:cNvPr id="7" name="mandirsync-logo">
            <a:hlinkClick r:id="" action="ppaction://media"/>
            <a:extLst>
              <a:ext uri="{FF2B5EF4-FFF2-40B4-BE49-F238E27FC236}">
                <a16:creationId xmlns:a16="http://schemas.microsoft.com/office/drawing/2014/main" id="{4AA93338-281A-1475-B95B-5A35C8CF558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23349" y="149117"/>
            <a:ext cx="8656264" cy="6559766"/>
          </a:xfrm>
          <a:prstGeom prst="rect">
            <a:avLst/>
          </a:prstGeom>
        </p:spPr>
      </p:pic>
    </p:spTree>
    <p:extLst>
      <p:ext uri="{BB962C8B-B14F-4D97-AF65-F5344CB8AC3E}">
        <p14:creationId xmlns:p14="http://schemas.microsoft.com/office/powerpoint/2010/main" val="3953825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9933"/>
        </a:solidFill>
        <a:effectLst/>
      </p:bgPr>
    </p:bg>
    <p:spTree>
      <p:nvGrpSpPr>
        <p:cNvPr id="1" name=""/>
        <p:cNvGrpSpPr/>
        <p:nvPr/>
      </p:nvGrpSpPr>
      <p:grpSpPr>
        <a:xfrm>
          <a:off x="0" y="0"/>
          <a:ext cx="0" cy="0"/>
          <a:chOff x="0" y="0"/>
          <a:chExt cx="0" cy="0"/>
        </a:xfrm>
      </p:grpSpPr>
      <p:sp>
        <p:nvSpPr>
          <p:cNvPr id="2" name="TextBox 1"/>
          <p:cNvSpPr txBox="1"/>
          <p:nvPr/>
        </p:nvSpPr>
        <p:spPr>
          <a:xfrm>
            <a:off x="457200" y="3200400"/>
            <a:ext cx="8229600" cy="1371600"/>
          </a:xfrm>
          <a:prstGeom prst="rect">
            <a:avLst/>
          </a:prstGeom>
          <a:noFill/>
        </p:spPr>
        <p:txBody>
          <a:bodyPr wrap="none">
            <a:spAutoFit/>
          </a:bodyPr>
          <a:lstStyle/>
          <a:p>
            <a:pPr algn="ctr">
              <a:defRPr sz="4400" b="1">
                <a:solidFill>
                  <a:srgbClr val="FFFFFF"/>
                </a:solidFill>
                <a:latin typeface="Montserrat"/>
              </a:defRPr>
            </a:pPr>
            <a:r>
              <a:t>MandirSync</a:t>
            </a:r>
          </a:p>
        </p:txBody>
      </p:sp>
      <p:sp>
        <p:nvSpPr>
          <p:cNvPr id="3" name="TextBox 2"/>
          <p:cNvSpPr txBox="1"/>
          <p:nvPr/>
        </p:nvSpPr>
        <p:spPr>
          <a:xfrm>
            <a:off x="914400" y="4389120"/>
            <a:ext cx="7315200" cy="914400"/>
          </a:xfrm>
          <a:prstGeom prst="rect">
            <a:avLst/>
          </a:prstGeom>
          <a:noFill/>
        </p:spPr>
        <p:txBody>
          <a:bodyPr wrap="none">
            <a:spAutoFit/>
          </a:bodyPr>
          <a:lstStyle/>
          <a:p>
            <a:pPr algn="ctr">
              <a:defRPr sz="2400">
                <a:solidFill>
                  <a:srgbClr val="FFFFFF"/>
                </a:solidFill>
                <a:latin typeface="Roboto"/>
              </a:defRPr>
            </a:pPr>
            <a:r>
              <a:t>Integrated Temple Management Software</a:t>
            </a:r>
            <a:br/>
            <a:r>
              <a:t>Simplifying Seva, Accounting &amp; Administration</a:t>
            </a:r>
          </a:p>
        </p:txBody>
      </p:sp>
      <p:sp>
        <p:nvSpPr>
          <p:cNvPr id="4" name="Oval 3"/>
          <p:cNvSpPr/>
          <p:nvPr/>
        </p:nvSpPr>
        <p:spPr>
          <a:xfrm>
            <a:off x="3657600" y="914400"/>
            <a:ext cx="1828800" cy="1828800"/>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0" y="1645920"/>
            <a:ext cx="2743200" cy="914400"/>
          </a:xfrm>
          <a:prstGeom prst="rect">
            <a:avLst/>
          </a:prstGeom>
          <a:noFill/>
        </p:spPr>
        <p:txBody>
          <a:bodyPr wrap="none">
            <a:spAutoFit/>
          </a:bodyPr>
          <a:lstStyle/>
          <a:p>
            <a:pPr algn="ctr">
              <a:defRPr sz="1000"/>
            </a:pPr>
            <a:r>
              <a:rPr dirty="0"/>
              <a:t>Insert Video Here</a:t>
            </a:r>
            <a:br>
              <a:rPr dirty="0"/>
            </a:br>
            <a:r>
              <a:rPr dirty="0"/>
              <a:t>(mandirsync-logo.mp4)</a:t>
            </a:r>
          </a:p>
        </p:txBody>
      </p:sp>
      <p:sp>
        <p:nvSpPr>
          <p:cNvPr id="6" name="TextBox 5"/>
          <p:cNvSpPr txBox="1"/>
          <p:nvPr/>
        </p:nvSpPr>
        <p:spPr>
          <a:xfrm>
            <a:off x="457200" y="5943600"/>
            <a:ext cx="8229600" cy="457200"/>
          </a:xfrm>
          <a:prstGeom prst="rect">
            <a:avLst/>
          </a:prstGeom>
          <a:noFill/>
        </p:spPr>
        <p:txBody>
          <a:bodyPr wrap="none">
            <a:spAutoFit/>
          </a:bodyPr>
          <a:lstStyle/>
          <a:p>
            <a:pPr algn="ctr">
              <a:defRPr i="1">
                <a:solidFill>
                  <a:srgbClr val="FFFFFF"/>
                </a:solidFill>
              </a:defRPr>
            </a:pPr>
            <a:r>
              <a:t>"Sacred workflows, simplified."</a:t>
            </a:r>
          </a:p>
        </p:txBody>
      </p:sp>
      <p:pic>
        <p:nvPicPr>
          <p:cNvPr id="7" name="mandirsync-logo">
            <a:hlinkClick r:id="" action="ppaction://media"/>
            <a:extLst>
              <a:ext uri="{FF2B5EF4-FFF2-40B4-BE49-F238E27FC236}">
                <a16:creationId xmlns:a16="http://schemas.microsoft.com/office/drawing/2014/main" id="{4AA93338-281A-1475-B95B-5A35C8CF558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51139" y="14840"/>
            <a:ext cx="3041721" cy="30417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What is MandirSync?</a:t>
            </a:r>
          </a:p>
        </p:txBody>
      </p:sp>
      <p:sp>
        <p:nvSpPr>
          <p:cNvPr id="5" name="TextBox 4"/>
          <p:cNvSpPr txBox="1"/>
          <p:nvPr/>
        </p:nvSpPr>
        <p:spPr>
          <a:xfrm>
            <a:off x="457200" y="1371600"/>
            <a:ext cx="8229600" cy="3708708"/>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400" b="1" dirty="0"/>
              <a:t>Purpose-built temple management software for Indian temples of all sizes.</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Integrates Donations, Sevas, Accounting, Inventory, Assets &amp; </a:t>
            </a:r>
            <a:r>
              <a:rPr sz="2400" b="1" dirty="0" err="1"/>
              <a:t>Panchang</a:t>
            </a:r>
            <a:r>
              <a:rPr sz="2400" b="1" dirty="0"/>
              <a:t> in one system.</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Designed for transparency, audit-readiness, and operational efficiency.</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Available as SaaS (cloud) or Standalone (on-premise) deployment.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Challenges in Temple Administration</a:t>
            </a:r>
          </a:p>
        </p:txBody>
      </p:sp>
      <p:sp>
        <p:nvSpPr>
          <p:cNvPr id="5" name="TextBox 4"/>
          <p:cNvSpPr txBox="1"/>
          <p:nvPr/>
        </p:nvSpPr>
        <p:spPr>
          <a:xfrm>
            <a:off x="457200" y="1371600"/>
            <a:ext cx="8229600" cy="3929281"/>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200" b="1" dirty="0"/>
              <a:t>Fragmented records: Manual ledgers, Excel sheets, loose </a:t>
            </a:r>
            <a:r>
              <a:rPr sz="2200" b="1" dirty="0" err="1"/>
              <a:t>parchis</a:t>
            </a:r>
            <a:r>
              <a:rPr sz="2200" b="1" dirty="0"/>
              <a:t>.</a:t>
            </a:r>
          </a:p>
          <a:p>
            <a:pPr marL="342900" indent="-342900">
              <a:spcAft>
                <a:spcPts val="1000"/>
              </a:spcAft>
              <a:buFont typeface="Wingdings" panose="05000000000000000000" pitchFamily="2" charset="2"/>
              <a:buChar char="v"/>
              <a:defRPr sz="2000">
                <a:solidFill>
                  <a:srgbClr val="333333"/>
                </a:solidFill>
                <a:latin typeface="Roboto"/>
              </a:defRPr>
            </a:pPr>
            <a:r>
              <a:rPr sz="2200" b="1" dirty="0"/>
              <a:t>Lack of audit trail for donations, sevas, inventory, and assets.</a:t>
            </a:r>
          </a:p>
          <a:p>
            <a:pPr marL="342900" indent="-342900">
              <a:spcAft>
                <a:spcPts val="1000"/>
              </a:spcAft>
              <a:buFont typeface="Wingdings" panose="05000000000000000000" pitchFamily="2" charset="2"/>
              <a:buChar char="v"/>
              <a:defRPr sz="2000">
                <a:solidFill>
                  <a:srgbClr val="333333"/>
                </a:solidFill>
                <a:latin typeface="Roboto"/>
              </a:defRPr>
            </a:pPr>
            <a:r>
              <a:rPr sz="2200" b="1" dirty="0"/>
              <a:t>Difficulty reconciling donation counters, UPI collections, and bank.</a:t>
            </a:r>
          </a:p>
          <a:p>
            <a:pPr marL="342900" indent="-342900">
              <a:spcAft>
                <a:spcPts val="1000"/>
              </a:spcAft>
              <a:buFont typeface="Wingdings" panose="05000000000000000000" pitchFamily="2" charset="2"/>
              <a:buChar char="v"/>
              <a:defRPr sz="2000">
                <a:solidFill>
                  <a:srgbClr val="333333"/>
                </a:solidFill>
                <a:latin typeface="Roboto"/>
              </a:defRPr>
            </a:pPr>
            <a:r>
              <a:rPr sz="2200" b="1" dirty="0"/>
              <a:t>No integrated view of seva bookings, CWIP, assets, and depreciation.</a:t>
            </a:r>
          </a:p>
          <a:p>
            <a:pPr marL="342900" indent="-342900">
              <a:spcAft>
                <a:spcPts val="1000"/>
              </a:spcAft>
              <a:buFont typeface="Wingdings" panose="05000000000000000000" pitchFamily="2" charset="2"/>
              <a:buChar char="v"/>
              <a:defRPr sz="2000">
                <a:solidFill>
                  <a:srgbClr val="333333"/>
                </a:solidFill>
                <a:latin typeface="Roboto"/>
              </a:defRPr>
            </a:pPr>
            <a:r>
              <a:rPr sz="2200" b="1" dirty="0"/>
              <a:t>Time-consuming preparation of reports for trustees, donors, auditors.</a:t>
            </a:r>
          </a:p>
        </p:txBody>
      </p:sp>
      <p:sp>
        <p:nvSpPr>
          <p:cNvPr id="6" name="TextBox 5"/>
          <p:cNvSpPr txBox="1"/>
          <p:nvPr/>
        </p:nvSpPr>
        <p:spPr>
          <a:xfrm>
            <a:off x="529119" y="5852160"/>
            <a:ext cx="8229600" cy="731520"/>
          </a:xfrm>
          <a:prstGeom prst="rect">
            <a:avLst/>
          </a:prstGeom>
          <a:noFill/>
        </p:spPr>
        <p:txBody>
          <a:bodyPr wrap="none">
            <a:spAutoFit/>
          </a:bodyPr>
          <a:lstStyle/>
          <a:p>
            <a:pPr>
              <a:defRPr sz="1800" b="1">
                <a:solidFill>
                  <a:srgbClr val="138808"/>
                </a:solidFill>
              </a:defRPr>
            </a:pPr>
            <a:r>
              <a:rPr dirty="0"/>
              <a:t>Bottom line: </a:t>
            </a:r>
            <a:r>
              <a:rPr dirty="0" err="1"/>
              <a:t>MandirSync</a:t>
            </a:r>
            <a:r>
              <a:rPr dirty="0"/>
              <a:t> converts all of this into a single, reliable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MandirSync – Major Modules</a:t>
            </a:r>
          </a:p>
        </p:txBody>
      </p:sp>
      <p:sp>
        <p:nvSpPr>
          <p:cNvPr id="5" name="TextBox 4"/>
          <p:cNvSpPr txBox="1"/>
          <p:nvPr/>
        </p:nvSpPr>
        <p:spPr>
          <a:xfrm>
            <a:off x="457200" y="1371600"/>
            <a:ext cx="8229600" cy="5319405"/>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800" b="1" dirty="0"/>
              <a:t>Devotees &amp; Donations (Mobile-first entry)</a:t>
            </a:r>
          </a:p>
          <a:p>
            <a:pPr marL="342900" indent="-342900">
              <a:spcAft>
                <a:spcPts val="1000"/>
              </a:spcAft>
              <a:buFont typeface="Wingdings" panose="05000000000000000000" pitchFamily="2" charset="2"/>
              <a:buChar char="v"/>
              <a:defRPr sz="2000">
                <a:solidFill>
                  <a:srgbClr val="333333"/>
                </a:solidFill>
                <a:latin typeface="Roboto"/>
              </a:defRPr>
            </a:pPr>
            <a:r>
              <a:rPr sz="2800" b="1" dirty="0"/>
              <a:t>Sevas &amp; Token Sevas (Pre-printed tokens, reconciliation)</a:t>
            </a:r>
          </a:p>
          <a:p>
            <a:pPr marL="342900" indent="-342900">
              <a:spcAft>
                <a:spcPts val="1000"/>
              </a:spcAft>
              <a:buFont typeface="Wingdings" panose="05000000000000000000" pitchFamily="2" charset="2"/>
              <a:buChar char="v"/>
              <a:defRPr sz="2000">
                <a:solidFill>
                  <a:srgbClr val="333333"/>
                </a:solidFill>
                <a:latin typeface="Roboto"/>
              </a:defRPr>
            </a:pPr>
            <a:r>
              <a:rPr sz="2800" b="1" dirty="0"/>
              <a:t>Accounting &amp; Reports (Double-entry, Auditors view)</a:t>
            </a:r>
          </a:p>
          <a:p>
            <a:pPr marL="342900" indent="-342900">
              <a:spcAft>
                <a:spcPts val="1000"/>
              </a:spcAft>
              <a:buFont typeface="Wingdings" panose="05000000000000000000" pitchFamily="2" charset="2"/>
              <a:buChar char="v"/>
              <a:defRPr sz="2000">
                <a:solidFill>
                  <a:srgbClr val="333333"/>
                </a:solidFill>
                <a:latin typeface="Roboto"/>
              </a:defRPr>
            </a:pPr>
            <a:r>
              <a:rPr sz="2800" b="1" dirty="0"/>
              <a:t>Inventory Management (Store wise, consumption)</a:t>
            </a:r>
          </a:p>
          <a:p>
            <a:pPr marL="342900" indent="-342900">
              <a:spcAft>
                <a:spcPts val="1000"/>
              </a:spcAft>
              <a:buFont typeface="Wingdings" panose="05000000000000000000" pitchFamily="2" charset="2"/>
              <a:buChar char="v"/>
              <a:defRPr sz="2000">
                <a:solidFill>
                  <a:srgbClr val="333333"/>
                </a:solidFill>
                <a:latin typeface="Roboto"/>
              </a:defRPr>
            </a:pPr>
            <a:r>
              <a:rPr sz="2800" b="1" dirty="0"/>
              <a:t>Asset Management &amp; Depreciation (CWIP, Gold, Land)</a:t>
            </a:r>
          </a:p>
          <a:p>
            <a:pPr marL="342900" indent="-342900">
              <a:spcAft>
                <a:spcPts val="1000"/>
              </a:spcAft>
              <a:buFont typeface="Wingdings" panose="05000000000000000000" pitchFamily="2" charset="2"/>
              <a:buChar char="v"/>
              <a:defRPr sz="2000">
                <a:solidFill>
                  <a:srgbClr val="333333"/>
                </a:solidFill>
                <a:latin typeface="Roboto"/>
              </a:defRPr>
            </a:pPr>
            <a:r>
              <a:rPr sz="2800" b="1" dirty="0" err="1"/>
              <a:t>Panchang</a:t>
            </a:r>
            <a:r>
              <a:rPr sz="2800" b="1" dirty="0"/>
              <a:t> </a:t>
            </a:r>
            <a:r>
              <a:rPr lang="en-IN" sz="2800" b="1" dirty="0"/>
              <a:t> </a:t>
            </a:r>
            <a:r>
              <a:rPr sz="2800" b="1" dirty="0"/>
              <a:t>(Optional)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MandirSync – Major Modules</a:t>
            </a:r>
          </a:p>
        </p:txBody>
      </p:sp>
      <p:pic>
        <p:nvPicPr>
          <p:cNvPr id="7" name="Picture 6">
            <a:extLst>
              <a:ext uri="{FF2B5EF4-FFF2-40B4-BE49-F238E27FC236}">
                <a16:creationId xmlns:a16="http://schemas.microsoft.com/office/drawing/2014/main" id="{172A0046-A4D4-8ABC-EB72-4649A0A5DDAC}"/>
              </a:ext>
            </a:extLst>
          </p:cNvPr>
          <p:cNvPicPr>
            <a:picLocks noChangeAspect="1"/>
          </p:cNvPicPr>
          <p:nvPr/>
        </p:nvPicPr>
        <p:blipFill>
          <a:blip r:embed="rId2"/>
          <a:stretch>
            <a:fillRect/>
          </a:stretch>
        </p:blipFill>
        <p:spPr>
          <a:xfrm>
            <a:off x="210619" y="1446206"/>
            <a:ext cx="8916305" cy="4553901"/>
          </a:xfrm>
          <a:prstGeom prst="rect">
            <a:avLst/>
          </a:prstGeom>
        </p:spPr>
      </p:pic>
    </p:spTree>
    <p:extLst>
      <p:ext uri="{BB962C8B-B14F-4D97-AF65-F5344CB8AC3E}">
        <p14:creationId xmlns:p14="http://schemas.microsoft.com/office/powerpoint/2010/main" val="1003753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Devotee &amp; Donation Management</a:t>
            </a:r>
          </a:p>
        </p:txBody>
      </p:sp>
      <p:sp>
        <p:nvSpPr>
          <p:cNvPr id="5" name="TextBox 4"/>
          <p:cNvSpPr txBox="1"/>
          <p:nvPr/>
        </p:nvSpPr>
        <p:spPr>
          <a:xfrm>
            <a:off x="457200" y="1371600"/>
            <a:ext cx="8229600" cy="3098284"/>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400" b="1" dirty="0"/>
              <a:t>Devotee master with mobile-first search and auto-fill.</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Fast Quick Donation Entry from dashboard.</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Auto-fill address from PIN code (city, state, country).</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Consolidated accounting: 4100 – Donation Income (Main).</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Multiple modes: cash, UPI, bank, with clear tracking.</a:t>
            </a:r>
          </a:p>
        </p:txBody>
      </p:sp>
      <p:sp>
        <p:nvSpPr>
          <p:cNvPr id="6" name="TextBox 5"/>
          <p:cNvSpPr txBox="1"/>
          <p:nvPr/>
        </p:nvSpPr>
        <p:spPr>
          <a:xfrm>
            <a:off x="457200" y="5486400"/>
            <a:ext cx="8229600" cy="731520"/>
          </a:xfrm>
          <a:prstGeom prst="rect">
            <a:avLst/>
          </a:prstGeom>
          <a:noFill/>
        </p:spPr>
        <p:txBody>
          <a:bodyPr wrap="none">
            <a:spAutoFit/>
          </a:bodyPr>
          <a:lstStyle/>
          <a:p>
            <a:pPr>
              <a:defRPr sz="1800" b="1">
                <a:solidFill>
                  <a:srgbClr val="138808"/>
                </a:solidFill>
              </a:defRPr>
            </a:pPr>
            <a:r>
              <a:t>Highlight: Reduces counter time and improves data quality.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MandirSync – Major Modules</a:t>
            </a:r>
          </a:p>
        </p:txBody>
      </p:sp>
      <p:pic>
        <p:nvPicPr>
          <p:cNvPr id="7" name="Picture 6">
            <a:extLst>
              <a:ext uri="{FF2B5EF4-FFF2-40B4-BE49-F238E27FC236}">
                <a16:creationId xmlns:a16="http://schemas.microsoft.com/office/drawing/2014/main" id="{37ADB7E6-5F6A-CA35-D45C-BCCDD66E438A}"/>
              </a:ext>
            </a:extLst>
          </p:cNvPr>
          <p:cNvPicPr>
            <a:picLocks noChangeAspect="1"/>
          </p:cNvPicPr>
          <p:nvPr/>
        </p:nvPicPr>
        <p:blipFill>
          <a:blip r:embed="rId3"/>
          <a:stretch>
            <a:fillRect/>
          </a:stretch>
        </p:blipFill>
        <p:spPr>
          <a:xfrm>
            <a:off x="66782" y="1307916"/>
            <a:ext cx="9010436" cy="4579175"/>
          </a:xfrm>
          <a:prstGeom prst="rect">
            <a:avLst/>
          </a:prstGeom>
        </p:spPr>
      </p:pic>
      <p:sp>
        <p:nvSpPr>
          <p:cNvPr id="8" name="TextBox 7">
            <a:extLst>
              <a:ext uri="{FF2B5EF4-FFF2-40B4-BE49-F238E27FC236}">
                <a16:creationId xmlns:a16="http://schemas.microsoft.com/office/drawing/2014/main" id="{8B035658-C54F-5D6E-3E84-5E4E6C465AC8}"/>
              </a:ext>
            </a:extLst>
          </p:cNvPr>
          <p:cNvSpPr txBox="1"/>
          <p:nvPr/>
        </p:nvSpPr>
        <p:spPr>
          <a:xfrm>
            <a:off x="66782" y="5934669"/>
            <a:ext cx="8767850" cy="923330"/>
          </a:xfrm>
          <a:prstGeom prst="rect">
            <a:avLst/>
          </a:prstGeom>
          <a:noFill/>
        </p:spPr>
        <p:txBody>
          <a:bodyPr wrap="square">
            <a:spAutoFit/>
          </a:bodyPr>
          <a:lstStyle/>
          <a:p>
            <a:pPr>
              <a:defRPr sz="1800" b="1">
                <a:solidFill>
                  <a:srgbClr val="138808"/>
                </a:solidFill>
              </a:defRPr>
            </a:pPr>
            <a:r>
              <a:rPr lang="en-IN" dirty="0"/>
              <a:t>Category pf donation is Configurable as per the temples requirement</a:t>
            </a:r>
            <a:r>
              <a:rPr dirty="0"/>
              <a:t>.</a:t>
            </a:r>
            <a:r>
              <a:rPr lang="en-IN" dirty="0"/>
              <a:t> Once the donation is recorded, accounting entry  automatically passed. </a:t>
            </a:r>
          </a:p>
          <a:p>
            <a:pPr>
              <a:defRPr sz="1800" b="1">
                <a:solidFill>
                  <a:srgbClr val="138808"/>
                </a:solidFill>
              </a:defRPr>
            </a:pPr>
            <a:endParaRPr dirty="0"/>
          </a:p>
        </p:txBody>
      </p:sp>
    </p:spTree>
    <p:extLst>
      <p:ext uri="{BB962C8B-B14F-4D97-AF65-F5344CB8AC3E}">
        <p14:creationId xmlns:p14="http://schemas.microsoft.com/office/powerpoint/2010/main" val="3861330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Seva Management &amp; Token Sevas</a:t>
            </a:r>
          </a:p>
        </p:txBody>
      </p:sp>
      <p:sp>
        <p:nvSpPr>
          <p:cNvPr id="5" name="TextBox 4"/>
          <p:cNvSpPr txBox="1"/>
          <p:nvPr/>
        </p:nvSpPr>
        <p:spPr>
          <a:xfrm>
            <a:off x="457200" y="1371600"/>
            <a:ext cx="8229600" cy="3836948"/>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400" b="1" dirty="0"/>
              <a:t>Seva master: timings, capacity, approvals, priests, pricing.</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Seva booking with mobile-based devotee lookup &amp; PIN code auto-fill.</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Token Seva system: Color-coded pre-printed tokens for small-value sevas.</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Controlled serial numbers and reconciliation.</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Accounting consolidation: 4200 – Sevas – Main.</a:t>
            </a:r>
          </a:p>
        </p:txBody>
      </p:sp>
      <p:sp>
        <p:nvSpPr>
          <p:cNvPr id="6" name="TextBox 5"/>
          <p:cNvSpPr txBox="1"/>
          <p:nvPr/>
        </p:nvSpPr>
        <p:spPr>
          <a:xfrm>
            <a:off x="457200" y="5486400"/>
            <a:ext cx="8229600" cy="731520"/>
          </a:xfrm>
          <a:prstGeom prst="rect">
            <a:avLst/>
          </a:prstGeom>
          <a:noFill/>
        </p:spPr>
        <p:txBody>
          <a:bodyPr wrap="none">
            <a:spAutoFit/>
          </a:bodyPr>
          <a:lstStyle/>
          <a:p>
            <a:pPr>
              <a:defRPr sz="1800" b="1">
                <a:solidFill>
                  <a:srgbClr val="138808"/>
                </a:solidFill>
              </a:defRPr>
            </a:pPr>
            <a:r>
              <a:rPr dirty="0"/>
              <a:t>Emphasize internal control and audit-friendliness.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Seva Management &amp; Token Sevas</a:t>
            </a:r>
          </a:p>
        </p:txBody>
      </p:sp>
      <p:sp>
        <p:nvSpPr>
          <p:cNvPr id="6" name="TextBox 5"/>
          <p:cNvSpPr txBox="1"/>
          <p:nvPr/>
        </p:nvSpPr>
        <p:spPr>
          <a:xfrm>
            <a:off x="170667" y="5881441"/>
            <a:ext cx="9003042" cy="923330"/>
          </a:xfrm>
          <a:prstGeom prst="rect">
            <a:avLst/>
          </a:prstGeom>
          <a:noFill/>
        </p:spPr>
        <p:txBody>
          <a:bodyPr wrap="none">
            <a:spAutoFit/>
          </a:bodyPr>
          <a:lstStyle/>
          <a:p>
            <a:pPr>
              <a:defRPr sz="1800" b="1">
                <a:solidFill>
                  <a:srgbClr val="138808"/>
                </a:solidFill>
              </a:defRPr>
            </a:pPr>
            <a:r>
              <a:rPr lang="en-IN" dirty="0"/>
              <a:t>Configurable as per the temples requirement</a:t>
            </a:r>
            <a:r>
              <a:rPr dirty="0"/>
              <a:t>.</a:t>
            </a:r>
            <a:r>
              <a:rPr lang="en-IN" dirty="0"/>
              <a:t> Once the seva is recorded, accounting entry is </a:t>
            </a:r>
          </a:p>
          <a:p>
            <a:pPr>
              <a:defRPr sz="1800" b="1">
                <a:solidFill>
                  <a:srgbClr val="138808"/>
                </a:solidFill>
              </a:defRPr>
            </a:pPr>
            <a:r>
              <a:rPr lang="en-IN" dirty="0"/>
              <a:t>Entry is automatically passed. </a:t>
            </a:r>
          </a:p>
          <a:p>
            <a:pPr>
              <a:defRPr sz="1800" b="1">
                <a:solidFill>
                  <a:srgbClr val="138808"/>
                </a:solidFill>
              </a:defRPr>
            </a:pPr>
            <a:endParaRPr dirty="0"/>
          </a:p>
        </p:txBody>
      </p:sp>
      <p:pic>
        <p:nvPicPr>
          <p:cNvPr id="8" name="Picture 7">
            <a:extLst>
              <a:ext uri="{FF2B5EF4-FFF2-40B4-BE49-F238E27FC236}">
                <a16:creationId xmlns:a16="http://schemas.microsoft.com/office/drawing/2014/main" id="{F5322149-3E12-8543-D629-DE967DB52A02}"/>
              </a:ext>
            </a:extLst>
          </p:cNvPr>
          <p:cNvPicPr>
            <a:picLocks noChangeAspect="1"/>
          </p:cNvPicPr>
          <p:nvPr/>
        </p:nvPicPr>
        <p:blipFill>
          <a:blip r:embed="rId2"/>
          <a:stretch>
            <a:fillRect/>
          </a:stretch>
        </p:blipFill>
        <p:spPr>
          <a:xfrm>
            <a:off x="0" y="1123565"/>
            <a:ext cx="9144000" cy="4732705"/>
          </a:xfrm>
          <a:prstGeom prst="rect">
            <a:avLst/>
          </a:prstGeom>
        </p:spPr>
      </p:pic>
    </p:spTree>
    <p:extLst>
      <p:ext uri="{BB962C8B-B14F-4D97-AF65-F5344CB8AC3E}">
        <p14:creationId xmlns:p14="http://schemas.microsoft.com/office/powerpoint/2010/main" val="2016041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Integrated Accounting Engine</a:t>
            </a:r>
          </a:p>
        </p:txBody>
      </p:sp>
      <p:sp>
        <p:nvSpPr>
          <p:cNvPr id="5" name="TextBox 4"/>
          <p:cNvSpPr txBox="1"/>
          <p:nvPr/>
        </p:nvSpPr>
        <p:spPr>
          <a:xfrm>
            <a:off x="457200" y="1371600"/>
            <a:ext cx="8229600" cy="4206280"/>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400" b="1" dirty="0"/>
              <a:t>Full double-entry bookkeeping with Chart of Accounts.</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Automatic journal entries for Donations, Sevas, Inventory, Assets.</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Handling of CWIP capitalization, depreciation, revaluation.</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Trial Balance shows short list of main accounts with drill-down.</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Designed with auditors in mind – traceable, consistent, exportable.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Integrated Accounting Engine</a:t>
            </a:r>
          </a:p>
        </p:txBody>
      </p:sp>
      <p:pic>
        <p:nvPicPr>
          <p:cNvPr id="7" name="Picture 6">
            <a:extLst>
              <a:ext uri="{FF2B5EF4-FFF2-40B4-BE49-F238E27FC236}">
                <a16:creationId xmlns:a16="http://schemas.microsoft.com/office/drawing/2014/main" id="{1ABB993D-7698-EEF1-7F43-5D8BF5A77F11}"/>
              </a:ext>
            </a:extLst>
          </p:cNvPr>
          <p:cNvPicPr>
            <a:picLocks noChangeAspect="1"/>
          </p:cNvPicPr>
          <p:nvPr/>
        </p:nvPicPr>
        <p:blipFill>
          <a:blip r:embed="rId2"/>
          <a:stretch>
            <a:fillRect/>
          </a:stretch>
        </p:blipFill>
        <p:spPr>
          <a:xfrm>
            <a:off x="133564" y="1050562"/>
            <a:ext cx="8856324" cy="4387006"/>
          </a:xfrm>
          <a:prstGeom prst="rect">
            <a:avLst/>
          </a:prstGeom>
        </p:spPr>
      </p:pic>
      <p:sp>
        <p:nvSpPr>
          <p:cNvPr id="8" name="TextBox 7">
            <a:extLst>
              <a:ext uri="{FF2B5EF4-FFF2-40B4-BE49-F238E27FC236}">
                <a16:creationId xmlns:a16="http://schemas.microsoft.com/office/drawing/2014/main" id="{758FD851-D461-DE8D-8337-A0EFB27529EE}"/>
              </a:ext>
            </a:extLst>
          </p:cNvPr>
          <p:cNvSpPr txBox="1"/>
          <p:nvPr/>
        </p:nvSpPr>
        <p:spPr>
          <a:xfrm>
            <a:off x="170667" y="5881441"/>
            <a:ext cx="8788240" cy="923330"/>
          </a:xfrm>
          <a:prstGeom prst="rect">
            <a:avLst/>
          </a:prstGeom>
          <a:noFill/>
        </p:spPr>
        <p:txBody>
          <a:bodyPr wrap="none">
            <a:spAutoFit/>
          </a:bodyPr>
          <a:lstStyle/>
          <a:p>
            <a:pPr>
              <a:defRPr sz="1800" b="1">
                <a:solidFill>
                  <a:srgbClr val="138808"/>
                </a:solidFill>
              </a:defRPr>
            </a:pPr>
            <a:r>
              <a:rPr lang="en-IN" dirty="0"/>
              <a:t>We have created more than 70+ head of accounts in Chart of accounts and is customisable</a:t>
            </a:r>
          </a:p>
          <a:p>
            <a:pPr>
              <a:defRPr sz="1800" b="1">
                <a:solidFill>
                  <a:srgbClr val="138808"/>
                </a:solidFill>
              </a:defRPr>
            </a:pPr>
            <a:r>
              <a:rPr lang="en-IN" dirty="0"/>
              <a:t>As per temples requirement </a:t>
            </a:r>
          </a:p>
          <a:p>
            <a:pPr>
              <a:defRPr sz="1800" b="1">
                <a:solidFill>
                  <a:srgbClr val="138808"/>
                </a:solidFill>
              </a:defRPr>
            </a:pPr>
            <a:endParaRPr dirty="0"/>
          </a:p>
        </p:txBody>
      </p:sp>
    </p:spTree>
    <p:extLst>
      <p:ext uri="{BB962C8B-B14F-4D97-AF65-F5344CB8AC3E}">
        <p14:creationId xmlns:p14="http://schemas.microsoft.com/office/powerpoint/2010/main" val="1880586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Integrated Accounting Engine</a:t>
            </a:r>
          </a:p>
        </p:txBody>
      </p:sp>
      <p:pic>
        <p:nvPicPr>
          <p:cNvPr id="7" name="Picture 6">
            <a:extLst>
              <a:ext uri="{FF2B5EF4-FFF2-40B4-BE49-F238E27FC236}">
                <a16:creationId xmlns:a16="http://schemas.microsoft.com/office/drawing/2014/main" id="{4857D773-8C1D-C31A-D7D7-34E38747EB7C}"/>
              </a:ext>
            </a:extLst>
          </p:cNvPr>
          <p:cNvPicPr>
            <a:picLocks noChangeAspect="1"/>
          </p:cNvPicPr>
          <p:nvPr/>
        </p:nvPicPr>
        <p:blipFill>
          <a:blip r:embed="rId2"/>
          <a:stretch>
            <a:fillRect/>
          </a:stretch>
        </p:blipFill>
        <p:spPr>
          <a:xfrm>
            <a:off x="155259" y="960120"/>
            <a:ext cx="8833481" cy="4545895"/>
          </a:xfrm>
          <a:prstGeom prst="rect">
            <a:avLst/>
          </a:prstGeom>
        </p:spPr>
      </p:pic>
      <p:sp>
        <p:nvSpPr>
          <p:cNvPr id="8" name="TextBox 7">
            <a:extLst>
              <a:ext uri="{FF2B5EF4-FFF2-40B4-BE49-F238E27FC236}">
                <a16:creationId xmlns:a16="http://schemas.microsoft.com/office/drawing/2014/main" id="{74638FB5-0C3B-375C-2DB5-82DBE0822A2F}"/>
              </a:ext>
            </a:extLst>
          </p:cNvPr>
          <p:cNvSpPr txBox="1"/>
          <p:nvPr/>
        </p:nvSpPr>
        <p:spPr>
          <a:xfrm>
            <a:off x="170667" y="5881441"/>
            <a:ext cx="8980472" cy="646331"/>
          </a:xfrm>
          <a:prstGeom prst="rect">
            <a:avLst/>
          </a:prstGeom>
          <a:noFill/>
        </p:spPr>
        <p:txBody>
          <a:bodyPr wrap="none">
            <a:spAutoFit/>
          </a:bodyPr>
          <a:lstStyle/>
          <a:p>
            <a:pPr>
              <a:defRPr sz="1800" b="1">
                <a:solidFill>
                  <a:srgbClr val="138808"/>
                </a:solidFill>
              </a:defRPr>
            </a:pPr>
            <a:r>
              <a:rPr lang="en-IN" dirty="0"/>
              <a:t>The Quick expense entry modules enables recording of expenses by payment mode  - either </a:t>
            </a:r>
          </a:p>
          <a:p>
            <a:pPr>
              <a:defRPr sz="1800" b="1">
                <a:solidFill>
                  <a:srgbClr val="138808"/>
                </a:solidFill>
              </a:defRPr>
            </a:pPr>
            <a:r>
              <a:rPr lang="en-IN" dirty="0"/>
              <a:t>Cash or through Bank </a:t>
            </a:r>
            <a:endParaRPr dirty="0"/>
          </a:p>
        </p:txBody>
      </p:sp>
    </p:spTree>
    <p:extLst>
      <p:ext uri="{BB962C8B-B14F-4D97-AF65-F5344CB8AC3E}">
        <p14:creationId xmlns:p14="http://schemas.microsoft.com/office/powerpoint/2010/main" val="810033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Inventory &amp; Store Management</a:t>
            </a:r>
          </a:p>
        </p:txBody>
      </p:sp>
      <p:sp>
        <p:nvSpPr>
          <p:cNvPr id="5" name="TextBox 4"/>
          <p:cNvSpPr txBox="1"/>
          <p:nvPr/>
        </p:nvSpPr>
        <p:spPr>
          <a:xfrm>
            <a:off x="457200" y="1371600"/>
            <a:ext cx="8229600" cy="3190617"/>
          </a:xfrm>
          <a:prstGeom prst="rect">
            <a:avLst/>
          </a:prstGeom>
          <a:noFill/>
        </p:spPr>
        <p:txBody>
          <a:bodyPr wrap="square">
            <a:spAutoFit/>
          </a:bodyPr>
          <a:lstStyle/>
          <a:p>
            <a:pPr marL="342900" indent="-342900">
              <a:buFont typeface="Wingdings" panose="05000000000000000000" pitchFamily="2" charset="2"/>
              <a:buChar char="v"/>
            </a:pPr>
            <a:endParaRPr sz="2400" b="1" dirty="0"/>
          </a:p>
          <a:p>
            <a:pPr marL="342900" indent="-342900">
              <a:spcAft>
                <a:spcPts val="1000"/>
              </a:spcAft>
              <a:buFont typeface="Wingdings" panose="05000000000000000000" pitchFamily="2" charset="2"/>
              <a:buChar char="v"/>
              <a:defRPr sz="2000">
                <a:solidFill>
                  <a:srgbClr val="333333"/>
                </a:solidFill>
                <a:latin typeface="Roboto"/>
              </a:defRPr>
            </a:pPr>
            <a:r>
              <a:rPr sz="2400" b="1" dirty="0"/>
              <a:t>Item Master (Pooja materials, groceries, cleaning, etc.).</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Store Master (Main store, kitchen, pooja room, etc.).</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Purchase Entry: Dr Inventory / Cr Cash/Bank.</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Issue Entry: Dr Expense / Cr Inventory (consumption).</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Stock Report: item/store-wise quantities, values, low-stock.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Inventory &amp; Store Management</a:t>
            </a:r>
          </a:p>
        </p:txBody>
      </p:sp>
      <p:pic>
        <p:nvPicPr>
          <p:cNvPr id="7" name="Picture 6">
            <a:extLst>
              <a:ext uri="{FF2B5EF4-FFF2-40B4-BE49-F238E27FC236}">
                <a16:creationId xmlns:a16="http://schemas.microsoft.com/office/drawing/2014/main" id="{906C0510-6794-6668-CE21-4C3CFE1A12C7}"/>
              </a:ext>
            </a:extLst>
          </p:cNvPr>
          <p:cNvPicPr>
            <a:picLocks noChangeAspect="1"/>
          </p:cNvPicPr>
          <p:nvPr/>
        </p:nvPicPr>
        <p:blipFill>
          <a:blip r:embed="rId2"/>
          <a:stretch>
            <a:fillRect/>
          </a:stretch>
        </p:blipFill>
        <p:spPr>
          <a:xfrm>
            <a:off x="323050" y="1152655"/>
            <a:ext cx="8497899" cy="4231003"/>
          </a:xfrm>
          <a:prstGeom prst="rect">
            <a:avLst/>
          </a:prstGeom>
        </p:spPr>
      </p:pic>
      <p:sp>
        <p:nvSpPr>
          <p:cNvPr id="8" name="TextBox 7">
            <a:extLst>
              <a:ext uri="{FF2B5EF4-FFF2-40B4-BE49-F238E27FC236}">
                <a16:creationId xmlns:a16="http://schemas.microsoft.com/office/drawing/2014/main" id="{BBF6C162-C7AE-6D00-8547-6AD523F3FA54}"/>
              </a:ext>
            </a:extLst>
          </p:cNvPr>
          <p:cNvSpPr txBox="1"/>
          <p:nvPr/>
        </p:nvSpPr>
        <p:spPr>
          <a:xfrm>
            <a:off x="170667" y="5881441"/>
            <a:ext cx="8891140" cy="923330"/>
          </a:xfrm>
          <a:prstGeom prst="rect">
            <a:avLst/>
          </a:prstGeom>
          <a:noFill/>
        </p:spPr>
        <p:txBody>
          <a:bodyPr wrap="square">
            <a:spAutoFit/>
          </a:bodyPr>
          <a:lstStyle/>
          <a:p>
            <a:pPr>
              <a:defRPr sz="1800" b="1">
                <a:solidFill>
                  <a:srgbClr val="138808"/>
                </a:solidFill>
              </a:defRPr>
            </a:pPr>
            <a:r>
              <a:rPr lang="en-IN" dirty="0"/>
              <a:t>A comprehensive Inventory module is available where all inventory like Purchase, utilisation</a:t>
            </a:r>
          </a:p>
          <a:p>
            <a:pPr>
              <a:defRPr sz="1800" b="1">
                <a:solidFill>
                  <a:srgbClr val="138808"/>
                </a:solidFill>
              </a:defRPr>
            </a:pPr>
            <a:r>
              <a:rPr lang="en-IN" dirty="0"/>
              <a:t> including shrinkage wastage  can be accounted. Stock report is available. A dash board is </a:t>
            </a:r>
          </a:p>
          <a:p>
            <a:pPr>
              <a:defRPr sz="1800" b="1">
                <a:solidFill>
                  <a:srgbClr val="138808"/>
                </a:solidFill>
              </a:defRPr>
            </a:pPr>
            <a:r>
              <a:rPr lang="en-IN" dirty="0"/>
              <a:t>Available for quick view and to take necessary action</a:t>
            </a:r>
            <a:endParaRPr dirty="0"/>
          </a:p>
        </p:txBody>
      </p:sp>
    </p:spTree>
    <p:extLst>
      <p:ext uri="{BB962C8B-B14F-4D97-AF65-F5344CB8AC3E}">
        <p14:creationId xmlns:p14="http://schemas.microsoft.com/office/powerpoint/2010/main" val="3815350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Asset Management – Foundations</a:t>
            </a:r>
          </a:p>
        </p:txBody>
      </p:sp>
      <p:sp>
        <p:nvSpPr>
          <p:cNvPr id="5" name="TextBox 4"/>
          <p:cNvSpPr txBox="1"/>
          <p:nvPr/>
        </p:nvSpPr>
        <p:spPr>
          <a:xfrm>
            <a:off x="457200" y="1371600"/>
            <a:ext cx="8229600" cy="3339376"/>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400" b="1" dirty="0"/>
              <a:t>Asset Master: land, buildings, vehicles, equipment, gold/silver.</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Asset categorization with account mapping (1500–1999 series).</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Tracks original cost, book value, accumulated depreciation.</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Handles Fixed Assets, Precious Assets and CWIP.</a:t>
            </a:r>
          </a:p>
        </p:txBody>
      </p:sp>
      <p:sp>
        <p:nvSpPr>
          <p:cNvPr id="6" name="TextBox 5"/>
          <p:cNvSpPr txBox="1"/>
          <p:nvPr/>
        </p:nvSpPr>
        <p:spPr>
          <a:xfrm>
            <a:off x="457200" y="5486400"/>
            <a:ext cx="8229600" cy="731520"/>
          </a:xfrm>
          <a:prstGeom prst="rect">
            <a:avLst/>
          </a:prstGeom>
          <a:noFill/>
        </p:spPr>
        <p:txBody>
          <a:bodyPr wrap="none">
            <a:spAutoFit/>
          </a:bodyPr>
          <a:lstStyle/>
          <a:p>
            <a:pPr>
              <a:defRPr sz="1800" b="1">
                <a:solidFill>
                  <a:srgbClr val="138808"/>
                </a:solidFill>
              </a:defRPr>
            </a:pPr>
            <a:r>
              <a:t>Built specifically for temple asset realities (land, gold, silver).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Asset Management – Foundations</a:t>
            </a:r>
          </a:p>
        </p:txBody>
      </p:sp>
      <p:sp>
        <p:nvSpPr>
          <p:cNvPr id="6" name="TextBox 5"/>
          <p:cNvSpPr txBox="1"/>
          <p:nvPr/>
        </p:nvSpPr>
        <p:spPr>
          <a:xfrm>
            <a:off x="457200" y="5663885"/>
            <a:ext cx="7731303" cy="646331"/>
          </a:xfrm>
          <a:prstGeom prst="rect">
            <a:avLst/>
          </a:prstGeom>
          <a:noFill/>
        </p:spPr>
        <p:txBody>
          <a:bodyPr wrap="square">
            <a:spAutoFit/>
          </a:bodyPr>
          <a:lstStyle/>
          <a:p>
            <a:pPr>
              <a:defRPr sz="1800" b="1">
                <a:solidFill>
                  <a:srgbClr val="138808"/>
                </a:solidFill>
              </a:defRPr>
            </a:pPr>
            <a:r>
              <a:rPr lang="en-IN" dirty="0"/>
              <a:t>A detailed process driven , audit ready asset management is in place,</a:t>
            </a:r>
          </a:p>
          <a:p>
            <a:pPr>
              <a:defRPr sz="1800" b="1">
                <a:solidFill>
                  <a:srgbClr val="138808"/>
                </a:solidFill>
              </a:defRPr>
            </a:pPr>
            <a:r>
              <a:rPr dirty="0"/>
              <a:t>Built specifically for temple asset realities (land, gold, silver).</a:t>
            </a:r>
          </a:p>
        </p:txBody>
      </p:sp>
      <p:pic>
        <p:nvPicPr>
          <p:cNvPr id="8" name="Picture 7">
            <a:extLst>
              <a:ext uri="{FF2B5EF4-FFF2-40B4-BE49-F238E27FC236}">
                <a16:creationId xmlns:a16="http://schemas.microsoft.com/office/drawing/2014/main" id="{50B9806B-277A-A735-DFD4-AE91E653A1D9}"/>
              </a:ext>
            </a:extLst>
          </p:cNvPr>
          <p:cNvPicPr>
            <a:picLocks noChangeAspect="1"/>
          </p:cNvPicPr>
          <p:nvPr/>
        </p:nvPicPr>
        <p:blipFill>
          <a:blip r:embed="rId2"/>
          <a:stretch>
            <a:fillRect/>
          </a:stretch>
        </p:blipFill>
        <p:spPr>
          <a:xfrm>
            <a:off x="228600" y="1140731"/>
            <a:ext cx="8686800" cy="4345669"/>
          </a:xfrm>
          <a:prstGeom prst="rect">
            <a:avLst/>
          </a:prstGeom>
        </p:spPr>
      </p:pic>
    </p:spTree>
    <p:extLst>
      <p:ext uri="{BB962C8B-B14F-4D97-AF65-F5344CB8AC3E}">
        <p14:creationId xmlns:p14="http://schemas.microsoft.com/office/powerpoint/2010/main" val="1260974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CWIP &amp; Procurement</a:t>
            </a:r>
          </a:p>
        </p:txBody>
      </p:sp>
      <p:sp>
        <p:nvSpPr>
          <p:cNvPr id="5" name="TextBox 4"/>
          <p:cNvSpPr txBox="1"/>
          <p:nvPr/>
        </p:nvSpPr>
        <p:spPr>
          <a:xfrm>
            <a:off x="457200" y="1371600"/>
            <a:ext cx="8229600" cy="4114800"/>
          </a:xfrm>
          <a:prstGeom prst="rect">
            <a:avLst/>
          </a:prstGeom>
          <a:noFill/>
        </p:spPr>
        <p:txBody>
          <a:bodyPr wrap="square">
            <a:spAutoFit/>
          </a:bodyPr>
          <a:lstStyle/>
          <a:p>
            <a:endParaRPr dirty="0"/>
          </a:p>
          <a:p>
            <a:pPr>
              <a:spcAft>
                <a:spcPts val="1000"/>
              </a:spcAft>
              <a:defRPr sz="2000">
                <a:solidFill>
                  <a:srgbClr val="333333"/>
                </a:solidFill>
                <a:latin typeface="Roboto"/>
              </a:defRPr>
            </a:pPr>
            <a:r>
              <a:rPr dirty="0"/>
              <a:t>CWIP projects for construction, renovation, infrastructure.</a:t>
            </a:r>
          </a:p>
          <a:p>
            <a:pPr>
              <a:spcAft>
                <a:spcPts val="1000"/>
              </a:spcAft>
              <a:defRPr sz="2000">
                <a:solidFill>
                  <a:srgbClr val="333333"/>
                </a:solidFill>
                <a:latin typeface="Roboto"/>
              </a:defRPr>
            </a:pPr>
            <a:r>
              <a:rPr dirty="0"/>
              <a:t>Record all project expenses – Materials, </a:t>
            </a:r>
            <a:r>
              <a:rPr dirty="0" err="1"/>
              <a:t>Labour</a:t>
            </a:r>
            <a:r>
              <a:rPr dirty="0"/>
              <a:t>, Overheads.</a:t>
            </a:r>
          </a:p>
          <a:p>
            <a:pPr>
              <a:spcAft>
                <a:spcPts val="1000"/>
              </a:spcAft>
              <a:defRPr sz="2000">
                <a:solidFill>
                  <a:srgbClr val="333333"/>
                </a:solidFill>
                <a:latin typeface="Roboto"/>
              </a:defRPr>
            </a:pPr>
            <a:r>
              <a:rPr dirty="0"/>
              <a:t>Accounting: Dr CWIP account, Cr Cash/Bank/Payables.</a:t>
            </a:r>
          </a:p>
          <a:p>
            <a:pPr>
              <a:spcAft>
                <a:spcPts val="1000"/>
              </a:spcAft>
              <a:defRPr sz="2000">
                <a:solidFill>
                  <a:srgbClr val="333333"/>
                </a:solidFill>
                <a:latin typeface="Roboto"/>
              </a:defRPr>
            </a:pPr>
            <a:r>
              <a:rPr dirty="0"/>
              <a:t>Capitalize to Fixed Asset: Dr Asset, Cr CWIP (automatic entry).</a:t>
            </a:r>
          </a:p>
          <a:p>
            <a:pPr>
              <a:spcAft>
                <a:spcPts val="1000"/>
              </a:spcAft>
              <a:defRPr sz="2000">
                <a:solidFill>
                  <a:srgbClr val="333333"/>
                </a:solidFill>
                <a:latin typeface="Roboto"/>
              </a:defRPr>
            </a:pPr>
            <a:r>
              <a:rPr dirty="0"/>
              <a:t>Optional tender process designed for large temples.</a:t>
            </a:r>
          </a:p>
        </p:txBody>
      </p:sp>
      <p:sp>
        <p:nvSpPr>
          <p:cNvPr id="6" name="TextBox 5">
            <a:extLst>
              <a:ext uri="{FF2B5EF4-FFF2-40B4-BE49-F238E27FC236}">
                <a16:creationId xmlns:a16="http://schemas.microsoft.com/office/drawing/2014/main" id="{6EB9F87F-71C8-DF62-081A-5FC9C84E5396}"/>
              </a:ext>
            </a:extLst>
          </p:cNvPr>
          <p:cNvSpPr txBox="1"/>
          <p:nvPr/>
        </p:nvSpPr>
        <p:spPr>
          <a:xfrm>
            <a:off x="457200" y="5663885"/>
            <a:ext cx="8501865" cy="1200329"/>
          </a:xfrm>
          <a:prstGeom prst="rect">
            <a:avLst/>
          </a:prstGeom>
          <a:noFill/>
        </p:spPr>
        <p:txBody>
          <a:bodyPr wrap="square">
            <a:spAutoFit/>
          </a:bodyPr>
          <a:lstStyle/>
          <a:p>
            <a:pPr>
              <a:defRPr sz="1800" b="1">
                <a:solidFill>
                  <a:srgbClr val="138808"/>
                </a:solidFill>
              </a:defRPr>
            </a:pPr>
            <a:r>
              <a:rPr lang="en-IN" dirty="0"/>
              <a:t>This module is built for specifically as there is lot of construction work is carried out in temples like Jeernodhara, new Building or Hall etc. Some times these expenses overlaps the financial Year, hence to proper accounting, we created this module and is audit ready</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Flexible Depreciation – 8 Methods</a:t>
            </a:r>
          </a:p>
        </p:txBody>
      </p:sp>
      <p:sp>
        <p:nvSpPr>
          <p:cNvPr id="5" name="TextBox 4"/>
          <p:cNvSpPr txBox="1"/>
          <p:nvPr/>
        </p:nvSpPr>
        <p:spPr>
          <a:xfrm>
            <a:off x="457200" y="1371600"/>
            <a:ext cx="8229600" cy="3467616"/>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400" b="1" dirty="0"/>
              <a:t>Supports all major methods: Straight-Line, WDV, etc.</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Temple admin selects method in consultation with auditor.</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Automated schedules and journal entries.</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Dr Depreciation Expense, Cr Accumulated Depreciation.</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Compliant with standard accounting practices (AS/Ind AS).</a:t>
            </a:r>
            <a:endParaRPr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Revaluation &amp; Disposal of Assets</a:t>
            </a:r>
          </a:p>
        </p:txBody>
      </p:sp>
      <p:sp>
        <p:nvSpPr>
          <p:cNvPr id="5" name="TextBox 4"/>
          <p:cNvSpPr txBox="1"/>
          <p:nvPr/>
        </p:nvSpPr>
        <p:spPr>
          <a:xfrm>
            <a:off x="457200" y="1371600"/>
            <a:ext cx="8229600" cy="3098284"/>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400" b="1" dirty="0"/>
              <a:t>Revaluation for land, buildings, gold, silver.</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Handles upward and downward revaluations with Reserve.</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Disposal types: sale, scrap, donation, loss, theft.</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Automatic gain/loss calculation and posting.</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Example: Dr Asset, Cr Revaluation Reserve.</a:t>
            </a:r>
            <a:endParaRPr b="1" dirty="0"/>
          </a:p>
        </p:txBody>
      </p:sp>
      <p:sp>
        <p:nvSpPr>
          <p:cNvPr id="6" name="TextBox 5"/>
          <p:cNvSpPr txBox="1"/>
          <p:nvPr/>
        </p:nvSpPr>
        <p:spPr>
          <a:xfrm>
            <a:off x="457200" y="5486400"/>
            <a:ext cx="8229600" cy="731520"/>
          </a:xfrm>
          <a:prstGeom prst="rect">
            <a:avLst/>
          </a:prstGeom>
          <a:noFill/>
        </p:spPr>
        <p:txBody>
          <a:bodyPr wrap="none">
            <a:spAutoFit/>
          </a:bodyPr>
          <a:lstStyle/>
          <a:p>
            <a:pPr>
              <a:defRPr sz="1800" b="1">
                <a:solidFill>
                  <a:srgbClr val="138808"/>
                </a:solidFill>
              </a:defRPr>
            </a:pPr>
            <a:r>
              <a:rPr dirty="0"/>
              <a:t>Keeps temple balance sheet realistic and audit-ready.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3570208" cy="584775"/>
          </a:xfrm>
          <a:prstGeom prst="rect">
            <a:avLst/>
          </a:prstGeom>
          <a:noFill/>
        </p:spPr>
        <p:txBody>
          <a:bodyPr wrap="none">
            <a:spAutoFit/>
          </a:bodyPr>
          <a:lstStyle/>
          <a:p>
            <a:pPr>
              <a:defRPr sz="3200" b="1">
                <a:solidFill>
                  <a:srgbClr val="E67E22"/>
                </a:solidFill>
                <a:latin typeface="Montserrat"/>
              </a:defRPr>
            </a:pPr>
            <a:r>
              <a:rPr dirty="0"/>
              <a:t>Daily </a:t>
            </a:r>
            <a:r>
              <a:rPr dirty="0" err="1"/>
              <a:t>Panchang</a:t>
            </a:r>
            <a:endParaRPr dirty="0"/>
          </a:p>
        </p:txBody>
      </p:sp>
      <p:sp>
        <p:nvSpPr>
          <p:cNvPr id="5" name="TextBox 4"/>
          <p:cNvSpPr txBox="1"/>
          <p:nvPr/>
        </p:nvSpPr>
        <p:spPr>
          <a:xfrm>
            <a:off x="457200" y="1371600"/>
            <a:ext cx="8229600" cy="1733808"/>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400" b="1" dirty="0"/>
              <a:t>Daily </a:t>
            </a:r>
            <a:r>
              <a:rPr sz="2400" b="1" dirty="0" err="1"/>
              <a:t>Panchang</a:t>
            </a:r>
            <a:r>
              <a:rPr sz="2400" b="1" dirty="0"/>
              <a:t> integrated with temple location.</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Configurable display settings.</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Only enabled on demand for users who need it.</a:t>
            </a:r>
          </a:p>
        </p:txBody>
      </p:sp>
      <p:sp>
        <p:nvSpPr>
          <p:cNvPr id="6" name="TextBox 5">
            <a:extLst>
              <a:ext uri="{FF2B5EF4-FFF2-40B4-BE49-F238E27FC236}">
                <a16:creationId xmlns:a16="http://schemas.microsoft.com/office/drawing/2014/main" id="{0E15C06E-4B23-1466-2A76-FEEFD8138BCA}"/>
              </a:ext>
            </a:extLst>
          </p:cNvPr>
          <p:cNvSpPr txBox="1"/>
          <p:nvPr/>
        </p:nvSpPr>
        <p:spPr>
          <a:xfrm>
            <a:off x="312660" y="5075434"/>
            <a:ext cx="8518679" cy="369332"/>
          </a:xfrm>
          <a:prstGeom prst="rect">
            <a:avLst/>
          </a:prstGeom>
          <a:noFill/>
        </p:spPr>
        <p:txBody>
          <a:bodyPr wrap="none">
            <a:spAutoFit/>
          </a:bodyPr>
          <a:lstStyle/>
          <a:p>
            <a:pPr>
              <a:defRPr sz="1800" b="1">
                <a:solidFill>
                  <a:srgbClr val="138808"/>
                </a:solidFill>
              </a:defRPr>
            </a:pPr>
            <a:r>
              <a:rPr lang="en-US" b="0" i="0" dirty="0">
                <a:effectLst/>
                <a:latin typeface="Roboto" panose="02000000000000000000" pitchFamily="2" charset="0"/>
              </a:rPr>
              <a:t>ℹ️ 100% Accurate - Cross-verified with Swiss Ephemeris with Lahiri </a:t>
            </a:r>
            <a:r>
              <a:rPr lang="en-US" b="0" i="0" dirty="0" err="1">
                <a:effectLst/>
                <a:latin typeface="Roboto" panose="02000000000000000000" pitchFamily="2" charset="0"/>
              </a:rPr>
              <a:t>Ayanamsa</a:t>
            </a:r>
            <a:r>
              <a:rPr dirty="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3570208" cy="584775"/>
          </a:xfrm>
          <a:prstGeom prst="rect">
            <a:avLst/>
          </a:prstGeom>
          <a:noFill/>
        </p:spPr>
        <p:txBody>
          <a:bodyPr wrap="none">
            <a:spAutoFit/>
          </a:bodyPr>
          <a:lstStyle/>
          <a:p>
            <a:pPr>
              <a:defRPr sz="3200" b="1">
                <a:solidFill>
                  <a:srgbClr val="E67E22"/>
                </a:solidFill>
                <a:latin typeface="Montserrat"/>
              </a:defRPr>
            </a:pPr>
            <a:r>
              <a:rPr dirty="0"/>
              <a:t>Daily </a:t>
            </a:r>
            <a:r>
              <a:rPr dirty="0" err="1"/>
              <a:t>Panchang</a:t>
            </a:r>
            <a:endParaRPr dirty="0"/>
          </a:p>
        </p:txBody>
      </p:sp>
      <p:pic>
        <p:nvPicPr>
          <p:cNvPr id="7" name="Picture 6">
            <a:extLst>
              <a:ext uri="{FF2B5EF4-FFF2-40B4-BE49-F238E27FC236}">
                <a16:creationId xmlns:a16="http://schemas.microsoft.com/office/drawing/2014/main" id="{184F346F-8FAA-FBAB-B87C-F799D871AD0E}"/>
              </a:ext>
            </a:extLst>
          </p:cNvPr>
          <p:cNvPicPr>
            <a:picLocks noChangeAspect="1"/>
          </p:cNvPicPr>
          <p:nvPr/>
        </p:nvPicPr>
        <p:blipFill>
          <a:blip r:embed="rId2"/>
          <a:stretch>
            <a:fillRect/>
          </a:stretch>
        </p:blipFill>
        <p:spPr>
          <a:xfrm>
            <a:off x="71919" y="1225861"/>
            <a:ext cx="8798920" cy="4239991"/>
          </a:xfrm>
          <a:prstGeom prst="rect">
            <a:avLst/>
          </a:prstGeom>
        </p:spPr>
      </p:pic>
    </p:spTree>
    <p:extLst>
      <p:ext uri="{BB962C8B-B14F-4D97-AF65-F5344CB8AC3E}">
        <p14:creationId xmlns:p14="http://schemas.microsoft.com/office/powerpoint/2010/main" val="1632145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3570208" cy="584775"/>
          </a:xfrm>
          <a:prstGeom prst="rect">
            <a:avLst/>
          </a:prstGeom>
          <a:noFill/>
        </p:spPr>
        <p:txBody>
          <a:bodyPr wrap="none">
            <a:spAutoFit/>
          </a:bodyPr>
          <a:lstStyle/>
          <a:p>
            <a:pPr>
              <a:defRPr sz="3200" b="1">
                <a:solidFill>
                  <a:srgbClr val="E67E22"/>
                </a:solidFill>
                <a:latin typeface="Montserrat"/>
              </a:defRPr>
            </a:pPr>
            <a:r>
              <a:rPr dirty="0"/>
              <a:t>Daily </a:t>
            </a:r>
            <a:r>
              <a:rPr dirty="0" err="1"/>
              <a:t>Panchang</a:t>
            </a:r>
            <a:endParaRPr dirty="0"/>
          </a:p>
        </p:txBody>
      </p:sp>
      <p:pic>
        <p:nvPicPr>
          <p:cNvPr id="7" name="Picture 6">
            <a:extLst>
              <a:ext uri="{FF2B5EF4-FFF2-40B4-BE49-F238E27FC236}">
                <a16:creationId xmlns:a16="http://schemas.microsoft.com/office/drawing/2014/main" id="{1441B8EE-B9BD-4041-6ACD-B832E2C911A1}"/>
              </a:ext>
            </a:extLst>
          </p:cNvPr>
          <p:cNvPicPr>
            <a:picLocks noChangeAspect="1"/>
          </p:cNvPicPr>
          <p:nvPr/>
        </p:nvPicPr>
        <p:blipFill>
          <a:blip r:embed="rId2"/>
          <a:stretch>
            <a:fillRect/>
          </a:stretch>
        </p:blipFill>
        <p:spPr>
          <a:xfrm>
            <a:off x="125029" y="1350380"/>
            <a:ext cx="8893941" cy="4043553"/>
          </a:xfrm>
          <a:prstGeom prst="rect">
            <a:avLst/>
          </a:prstGeom>
        </p:spPr>
      </p:pic>
    </p:spTree>
    <p:extLst>
      <p:ext uri="{BB962C8B-B14F-4D97-AF65-F5344CB8AC3E}">
        <p14:creationId xmlns:p14="http://schemas.microsoft.com/office/powerpoint/2010/main" val="3760254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3570208" cy="584775"/>
          </a:xfrm>
          <a:prstGeom prst="rect">
            <a:avLst/>
          </a:prstGeom>
          <a:noFill/>
        </p:spPr>
        <p:txBody>
          <a:bodyPr wrap="none">
            <a:spAutoFit/>
          </a:bodyPr>
          <a:lstStyle/>
          <a:p>
            <a:pPr>
              <a:defRPr sz="3200" b="1">
                <a:solidFill>
                  <a:srgbClr val="E67E22"/>
                </a:solidFill>
                <a:latin typeface="Montserrat"/>
              </a:defRPr>
            </a:pPr>
            <a:r>
              <a:rPr dirty="0"/>
              <a:t>Daily </a:t>
            </a:r>
            <a:r>
              <a:rPr dirty="0" err="1"/>
              <a:t>Panchang</a:t>
            </a:r>
            <a:endParaRPr dirty="0"/>
          </a:p>
        </p:txBody>
      </p:sp>
      <p:pic>
        <p:nvPicPr>
          <p:cNvPr id="7" name="Picture 6">
            <a:extLst>
              <a:ext uri="{FF2B5EF4-FFF2-40B4-BE49-F238E27FC236}">
                <a16:creationId xmlns:a16="http://schemas.microsoft.com/office/drawing/2014/main" id="{C80276E1-D512-C365-2F25-BC6A8792D857}"/>
              </a:ext>
            </a:extLst>
          </p:cNvPr>
          <p:cNvPicPr>
            <a:picLocks noChangeAspect="1"/>
          </p:cNvPicPr>
          <p:nvPr/>
        </p:nvPicPr>
        <p:blipFill>
          <a:blip r:embed="rId2"/>
          <a:stretch>
            <a:fillRect/>
          </a:stretch>
        </p:blipFill>
        <p:spPr>
          <a:xfrm>
            <a:off x="0" y="1271535"/>
            <a:ext cx="9144000" cy="4314930"/>
          </a:xfrm>
          <a:prstGeom prst="rect">
            <a:avLst/>
          </a:prstGeom>
        </p:spPr>
      </p:pic>
    </p:spTree>
    <p:extLst>
      <p:ext uri="{BB962C8B-B14F-4D97-AF65-F5344CB8AC3E}">
        <p14:creationId xmlns:p14="http://schemas.microsoft.com/office/powerpoint/2010/main" val="3680090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Deployment Options</a:t>
            </a:r>
          </a:p>
        </p:txBody>
      </p:sp>
      <p:sp>
        <p:nvSpPr>
          <p:cNvPr id="4" name="Rectangle 3"/>
          <p:cNvSpPr/>
          <p:nvPr/>
        </p:nvSpPr>
        <p:spPr>
          <a:xfrm>
            <a:off x="457200" y="1645920"/>
            <a:ext cx="3886200" cy="411480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3474720" cy="457200"/>
          </a:xfrm>
          <a:prstGeom prst="rect">
            <a:avLst/>
          </a:prstGeom>
          <a:noFill/>
        </p:spPr>
        <p:txBody>
          <a:bodyPr wrap="none">
            <a:spAutoFit/>
          </a:bodyPr>
          <a:lstStyle/>
          <a:p>
            <a:pPr>
              <a:defRPr b="1">
                <a:solidFill>
                  <a:srgbClr val="E67E22"/>
                </a:solidFill>
              </a:defRPr>
            </a:pPr>
            <a:r>
              <a:t>SaaS (Cloud)</a:t>
            </a:r>
          </a:p>
        </p:txBody>
      </p:sp>
      <p:sp>
        <p:nvSpPr>
          <p:cNvPr id="6" name="TextBox 5"/>
          <p:cNvSpPr txBox="1"/>
          <p:nvPr/>
        </p:nvSpPr>
        <p:spPr>
          <a:xfrm>
            <a:off x="640080" y="2286000"/>
            <a:ext cx="3474720" cy="3200400"/>
          </a:xfrm>
          <a:prstGeom prst="rect">
            <a:avLst/>
          </a:prstGeom>
          <a:noFill/>
        </p:spPr>
        <p:txBody>
          <a:bodyPr wrap="square">
            <a:spAutoFit/>
          </a:bodyPr>
          <a:lstStyle/>
          <a:p>
            <a:endParaRPr/>
          </a:p>
          <a:p>
            <a:pPr>
              <a:defRPr sz="1600">
                <a:solidFill>
                  <a:srgbClr val="333333"/>
                </a:solidFill>
              </a:defRPr>
            </a:pPr>
            <a:r>
              <a:t>Accessible from anywhere.</a:t>
            </a:r>
          </a:p>
          <a:p>
            <a:pPr>
              <a:defRPr sz="1600">
                <a:solidFill>
                  <a:srgbClr val="333333"/>
                </a:solidFill>
              </a:defRPr>
            </a:pPr>
            <a:r>
              <a:t>Automatic backups &amp; updates.</a:t>
            </a:r>
          </a:p>
          <a:p>
            <a:pPr>
              <a:defRPr sz="1600">
                <a:solidFill>
                  <a:srgbClr val="333333"/>
                </a:solidFill>
              </a:defRPr>
            </a:pPr>
            <a:r>
              <a:t>Lower upfront hardware cost.</a:t>
            </a:r>
          </a:p>
          <a:p>
            <a:pPr>
              <a:defRPr sz="1600">
                <a:solidFill>
                  <a:srgbClr val="333333"/>
                </a:solidFill>
              </a:defRPr>
            </a:pPr>
            <a:r>
              <a:t>Best for reliable internet.</a:t>
            </a:r>
          </a:p>
        </p:txBody>
      </p:sp>
      <p:sp>
        <p:nvSpPr>
          <p:cNvPr id="7" name="Rectangle 6"/>
          <p:cNvSpPr/>
          <p:nvPr/>
        </p:nvSpPr>
        <p:spPr>
          <a:xfrm>
            <a:off x="4800600" y="1645920"/>
            <a:ext cx="3886200" cy="41148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83480" y="1828800"/>
            <a:ext cx="3474720" cy="457200"/>
          </a:xfrm>
          <a:prstGeom prst="rect">
            <a:avLst/>
          </a:prstGeom>
          <a:noFill/>
        </p:spPr>
        <p:txBody>
          <a:bodyPr wrap="none">
            <a:spAutoFit/>
          </a:bodyPr>
          <a:lstStyle/>
          <a:p>
            <a:pPr>
              <a:defRPr b="1">
                <a:solidFill>
                  <a:srgbClr val="0B5C05"/>
                </a:solidFill>
              </a:defRPr>
            </a:pPr>
            <a:r>
              <a:t>Standalone (On-Premise)</a:t>
            </a:r>
          </a:p>
        </p:txBody>
      </p:sp>
      <p:sp>
        <p:nvSpPr>
          <p:cNvPr id="9" name="TextBox 8"/>
          <p:cNvSpPr txBox="1"/>
          <p:nvPr/>
        </p:nvSpPr>
        <p:spPr>
          <a:xfrm>
            <a:off x="4983480" y="2286000"/>
            <a:ext cx="3474720" cy="3200400"/>
          </a:xfrm>
          <a:prstGeom prst="rect">
            <a:avLst/>
          </a:prstGeom>
          <a:noFill/>
        </p:spPr>
        <p:txBody>
          <a:bodyPr wrap="square">
            <a:spAutoFit/>
          </a:bodyPr>
          <a:lstStyle/>
          <a:p>
            <a:endParaRPr/>
          </a:p>
          <a:p>
            <a:pPr>
              <a:defRPr sz="1600">
                <a:solidFill>
                  <a:srgbClr val="333333"/>
                </a:solidFill>
              </a:defRPr>
            </a:pPr>
            <a:r>
              <a:t>Runs on temple’s own server.</a:t>
            </a:r>
          </a:p>
          <a:p>
            <a:pPr>
              <a:defRPr sz="1600">
                <a:solidFill>
                  <a:srgbClr val="333333"/>
                </a:solidFill>
              </a:defRPr>
            </a:pPr>
            <a:r>
              <a:t>Data stays locally.</a:t>
            </a:r>
          </a:p>
          <a:p>
            <a:pPr>
              <a:defRPr sz="1600">
                <a:solidFill>
                  <a:srgbClr val="333333"/>
                </a:solidFill>
              </a:defRPr>
            </a:pPr>
            <a:r>
              <a:t>Temple controls backups.</a:t>
            </a:r>
          </a:p>
          <a:p>
            <a:pPr>
              <a:defRPr sz="1600">
                <a:solidFill>
                  <a:srgbClr val="333333"/>
                </a:solidFill>
              </a:defRPr>
            </a:pPr>
            <a:r>
              <a:t>Can upgrade to SaaS later.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Technical Overview</a:t>
            </a:r>
          </a:p>
        </p:txBody>
      </p:sp>
      <p:sp>
        <p:nvSpPr>
          <p:cNvPr id="5" name="TextBox 4"/>
          <p:cNvSpPr txBox="1"/>
          <p:nvPr/>
        </p:nvSpPr>
        <p:spPr>
          <a:xfrm>
            <a:off x="457200" y="1371600"/>
            <a:ext cx="8229600" cy="2421176"/>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dirty="0"/>
              <a:t>Frontend: React + Material-UI with responsive design.</a:t>
            </a:r>
          </a:p>
          <a:p>
            <a:pPr marL="342900" indent="-342900">
              <a:spcAft>
                <a:spcPts val="1000"/>
              </a:spcAft>
              <a:buFont typeface="Wingdings" panose="05000000000000000000" pitchFamily="2" charset="2"/>
              <a:buChar char="v"/>
              <a:defRPr sz="2000">
                <a:solidFill>
                  <a:srgbClr val="333333"/>
                </a:solidFill>
                <a:latin typeface="Roboto"/>
              </a:defRPr>
            </a:pPr>
            <a:r>
              <a:rPr dirty="0"/>
              <a:t>Backend: </a:t>
            </a:r>
            <a:r>
              <a:rPr dirty="0" err="1"/>
              <a:t>FastAPI</a:t>
            </a:r>
            <a:r>
              <a:rPr dirty="0"/>
              <a:t> (Python), RESTful APIs.</a:t>
            </a:r>
          </a:p>
          <a:p>
            <a:pPr marL="342900" indent="-342900">
              <a:spcAft>
                <a:spcPts val="1000"/>
              </a:spcAft>
              <a:buFont typeface="Wingdings" panose="05000000000000000000" pitchFamily="2" charset="2"/>
              <a:buChar char="v"/>
              <a:defRPr sz="2000">
                <a:solidFill>
                  <a:srgbClr val="333333"/>
                </a:solidFill>
                <a:latin typeface="Roboto"/>
              </a:defRPr>
            </a:pPr>
            <a:r>
              <a:rPr dirty="0"/>
              <a:t>Database: PostgreSQL with migrations and scripts.</a:t>
            </a:r>
          </a:p>
          <a:p>
            <a:pPr marL="342900" indent="-342900">
              <a:spcAft>
                <a:spcPts val="1000"/>
              </a:spcAft>
              <a:buFont typeface="Wingdings" panose="05000000000000000000" pitchFamily="2" charset="2"/>
              <a:buChar char="v"/>
              <a:defRPr sz="2000">
                <a:solidFill>
                  <a:srgbClr val="333333"/>
                </a:solidFill>
                <a:latin typeface="Roboto"/>
              </a:defRPr>
            </a:pPr>
            <a:r>
              <a:rPr dirty="0"/>
              <a:t>Clean separation of Models, APIs, and Accounting engine.</a:t>
            </a:r>
          </a:p>
          <a:p>
            <a:pPr marL="342900" indent="-342900">
              <a:spcAft>
                <a:spcPts val="1000"/>
              </a:spcAft>
              <a:buFont typeface="Wingdings" panose="05000000000000000000" pitchFamily="2" charset="2"/>
              <a:buChar char="v"/>
              <a:defRPr sz="2000">
                <a:solidFill>
                  <a:srgbClr val="333333"/>
                </a:solidFill>
                <a:latin typeface="Roboto"/>
              </a:defRPr>
            </a:pPr>
            <a:r>
              <a:rPr dirty="0"/>
              <a:t>Robust logging and schema management.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Security &amp; Controls</a:t>
            </a:r>
          </a:p>
        </p:txBody>
      </p:sp>
      <p:sp>
        <p:nvSpPr>
          <p:cNvPr id="5" name="TextBox 4"/>
          <p:cNvSpPr txBox="1"/>
          <p:nvPr/>
        </p:nvSpPr>
        <p:spPr>
          <a:xfrm>
            <a:off x="457200" y="1371600"/>
            <a:ext cx="8229600" cy="2728952"/>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dirty="0"/>
              <a:t>User login &amp; role-based access (admin, accountant, counter).</a:t>
            </a:r>
          </a:p>
          <a:p>
            <a:pPr marL="342900" indent="-342900">
              <a:spcAft>
                <a:spcPts val="1000"/>
              </a:spcAft>
              <a:buFont typeface="Wingdings" panose="05000000000000000000" pitchFamily="2" charset="2"/>
              <a:buChar char="v"/>
              <a:defRPr sz="2000">
                <a:solidFill>
                  <a:srgbClr val="333333"/>
                </a:solidFill>
                <a:latin typeface="Roboto"/>
              </a:defRPr>
            </a:pPr>
            <a:r>
              <a:rPr dirty="0"/>
              <a:t>Controlled token seva</a:t>
            </a:r>
            <a:r>
              <a:rPr lang="en-IN" dirty="0"/>
              <a:t> (for low value seva</a:t>
            </a:r>
            <a:r>
              <a:rPr dirty="0"/>
              <a:t> </a:t>
            </a:r>
            <a:r>
              <a:rPr lang="en-IN" dirty="0"/>
              <a:t>which is &lt; ₹ 50/- or as decided by the temple </a:t>
            </a:r>
            <a:r>
              <a:rPr lang="en-IN" dirty="0" err="1"/>
              <a:t>aythority</a:t>
            </a:r>
            <a:r>
              <a:rPr lang="en-IN" dirty="0"/>
              <a:t>) </a:t>
            </a:r>
            <a:r>
              <a:rPr dirty="0"/>
              <a:t>inventory and reconciliation.</a:t>
            </a:r>
          </a:p>
          <a:p>
            <a:pPr marL="342900" indent="-342900">
              <a:spcAft>
                <a:spcPts val="1000"/>
              </a:spcAft>
              <a:buFont typeface="Wingdings" panose="05000000000000000000" pitchFamily="2" charset="2"/>
              <a:buChar char="v"/>
              <a:defRPr sz="2000">
                <a:solidFill>
                  <a:srgbClr val="333333"/>
                </a:solidFill>
                <a:latin typeface="Roboto"/>
              </a:defRPr>
            </a:pPr>
            <a:r>
              <a:rPr dirty="0"/>
              <a:t>Every transaction linked to journal entries where applicable.</a:t>
            </a:r>
          </a:p>
          <a:p>
            <a:pPr marL="342900" indent="-342900">
              <a:spcAft>
                <a:spcPts val="1000"/>
              </a:spcAft>
              <a:buFont typeface="Wingdings" panose="05000000000000000000" pitchFamily="2" charset="2"/>
              <a:buChar char="v"/>
              <a:defRPr sz="2000">
                <a:solidFill>
                  <a:srgbClr val="333333"/>
                </a:solidFill>
                <a:latin typeface="Roboto"/>
              </a:defRPr>
            </a:pPr>
            <a:r>
              <a:rPr dirty="0"/>
              <a:t>Exportable reports for auditors and trustees.</a:t>
            </a:r>
          </a:p>
          <a:p>
            <a:pPr marL="342900" indent="-342900">
              <a:spcAft>
                <a:spcPts val="1000"/>
              </a:spcAft>
              <a:buFont typeface="Wingdings" panose="05000000000000000000" pitchFamily="2" charset="2"/>
              <a:buChar char="v"/>
              <a:defRPr sz="2000">
                <a:solidFill>
                  <a:srgbClr val="333333"/>
                </a:solidFill>
                <a:latin typeface="Roboto"/>
              </a:defRPr>
            </a:pPr>
            <a:r>
              <a:rPr dirty="0"/>
              <a:t>Logs and database migrations to avoid schema drift.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Key Benefits to Your Temple</a:t>
            </a:r>
          </a:p>
        </p:txBody>
      </p:sp>
      <p:sp>
        <p:nvSpPr>
          <p:cNvPr id="5" name="TextBox 4"/>
          <p:cNvSpPr txBox="1"/>
          <p:nvPr/>
        </p:nvSpPr>
        <p:spPr>
          <a:xfrm>
            <a:off x="457200" y="1371600"/>
            <a:ext cx="8229600" cy="2421176"/>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dirty="0"/>
              <a:t>Single source of truth for donations, sevas, inventory, and assets.</a:t>
            </a:r>
          </a:p>
          <a:p>
            <a:pPr marL="342900" indent="-342900">
              <a:spcAft>
                <a:spcPts val="1000"/>
              </a:spcAft>
              <a:buFont typeface="Wingdings" panose="05000000000000000000" pitchFamily="2" charset="2"/>
              <a:buChar char="v"/>
              <a:defRPr sz="2000">
                <a:solidFill>
                  <a:srgbClr val="333333"/>
                </a:solidFill>
                <a:latin typeface="Roboto"/>
              </a:defRPr>
            </a:pPr>
            <a:r>
              <a:rPr dirty="0"/>
              <a:t>Faster counter operations with mobile-first and PIN code auto-fill.</a:t>
            </a:r>
          </a:p>
          <a:p>
            <a:pPr marL="342900" indent="-342900">
              <a:spcAft>
                <a:spcPts val="1000"/>
              </a:spcAft>
              <a:buFont typeface="Wingdings" panose="05000000000000000000" pitchFamily="2" charset="2"/>
              <a:buChar char="v"/>
              <a:defRPr sz="2000">
                <a:solidFill>
                  <a:srgbClr val="333333"/>
                </a:solidFill>
                <a:latin typeface="Roboto"/>
              </a:defRPr>
            </a:pPr>
            <a:r>
              <a:rPr dirty="0"/>
              <a:t>Stronger financial discipline and easier audits.</a:t>
            </a:r>
          </a:p>
          <a:p>
            <a:pPr marL="342900" indent="-342900">
              <a:spcAft>
                <a:spcPts val="1000"/>
              </a:spcAft>
              <a:buFont typeface="Wingdings" panose="05000000000000000000" pitchFamily="2" charset="2"/>
              <a:buChar char="v"/>
              <a:defRPr sz="2000">
                <a:solidFill>
                  <a:srgbClr val="333333"/>
                </a:solidFill>
                <a:latin typeface="Roboto"/>
              </a:defRPr>
            </a:pPr>
            <a:r>
              <a:rPr dirty="0"/>
              <a:t>Better transparency for devotees, trustees, and regulators.</a:t>
            </a:r>
          </a:p>
          <a:p>
            <a:pPr marL="342900" indent="-342900">
              <a:spcAft>
                <a:spcPts val="1000"/>
              </a:spcAft>
              <a:buFont typeface="Wingdings" panose="05000000000000000000" pitchFamily="2" charset="2"/>
              <a:buChar char="v"/>
              <a:defRPr sz="2000">
                <a:solidFill>
                  <a:srgbClr val="333333"/>
                </a:solidFill>
                <a:latin typeface="Roboto"/>
              </a:defRPr>
            </a:pPr>
            <a:r>
              <a:rPr dirty="0"/>
              <a:t>Scales from small local temples to large institutions.</a:t>
            </a:r>
          </a:p>
        </p:txBody>
      </p:sp>
      <p:sp>
        <p:nvSpPr>
          <p:cNvPr id="6" name="TextBox 5"/>
          <p:cNvSpPr txBox="1"/>
          <p:nvPr/>
        </p:nvSpPr>
        <p:spPr>
          <a:xfrm>
            <a:off x="457200" y="5486400"/>
            <a:ext cx="8229600" cy="731520"/>
          </a:xfrm>
          <a:prstGeom prst="rect">
            <a:avLst/>
          </a:prstGeom>
          <a:noFill/>
        </p:spPr>
        <p:txBody>
          <a:bodyPr wrap="none">
            <a:spAutoFit/>
          </a:bodyPr>
          <a:lstStyle/>
          <a:p>
            <a:pPr>
              <a:defRPr sz="1800" b="1">
                <a:solidFill>
                  <a:srgbClr val="138808"/>
                </a:solidFill>
              </a:defRPr>
            </a:pPr>
            <a:r>
              <a:t>"Less time on administration, more time on Seva."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3716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0" y="182880"/>
            <a:ext cx="1828800" cy="457200"/>
          </a:xfrm>
          <a:prstGeom prst="rect">
            <a:avLst/>
          </a:prstGeom>
          <a:noFill/>
        </p:spPr>
        <p:txBody>
          <a:bodyPr wrap="none">
            <a:spAutoFit/>
          </a:bodyPr>
          <a:lstStyle/>
          <a:p>
            <a:pPr algn="r">
              <a:defRPr sz="1400" b="1">
                <a:solidFill>
                  <a:srgbClr val="E67E22"/>
                </a:solidFill>
                <a:latin typeface="Montserrat"/>
              </a:defRPr>
            </a:pPr>
            <a:r>
              <a:t>MandirSync</a:t>
            </a:r>
          </a:p>
        </p:txBody>
      </p:sp>
      <p:sp>
        <p:nvSpPr>
          <p:cNvPr id="4" name="TextBox 3"/>
          <p:cNvSpPr txBox="1"/>
          <p:nvPr/>
        </p:nvSpPr>
        <p:spPr>
          <a:xfrm>
            <a:off x="457200" y="457200"/>
            <a:ext cx="8229600" cy="914400"/>
          </a:xfrm>
          <a:prstGeom prst="rect">
            <a:avLst/>
          </a:prstGeom>
          <a:noFill/>
        </p:spPr>
        <p:txBody>
          <a:bodyPr wrap="none">
            <a:spAutoFit/>
          </a:bodyPr>
          <a:lstStyle/>
          <a:p>
            <a:pPr>
              <a:defRPr sz="3200" b="1">
                <a:solidFill>
                  <a:srgbClr val="E67E22"/>
                </a:solidFill>
                <a:latin typeface="Montserrat"/>
              </a:defRPr>
            </a:pPr>
            <a:r>
              <a:t>Final Word &amp; Next Steps</a:t>
            </a:r>
          </a:p>
        </p:txBody>
      </p:sp>
      <p:sp>
        <p:nvSpPr>
          <p:cNvPr id="5" name="TextBox 4"/>
          <p:cNvSpPr txBox="1"/>
          <p:nvPr/>
        </p:nvSpPr>
        <p:spPr>
          <a:xfrm>
            <a:off x="457200" y="1371600"/>
            <a:ext cx="8229600" cy="2970044"/>
          </a:xfrm>
          <a:prstGeom prst="rect">
            <a:avLst/>
          </a:prstGeom>
          <a:noFill/>
        </p:spPr>
        <p:txBody>
          <a:bodyPr wrap="square">
            <a:spAutoFit/>
          </a:bodyPr>
          <a:lstStyle/>
          <a:p>
            <a:endParaRPr dirty="0"/>
          </a:p>
          <a:p>
            <a:pPr marL="342900" indent="-342900">
              <a:spcAft>
                <a:spcPts val="1000"/>
              </a:spcAft>
              <a:buFont typeface="Wingdings" panose="05000000000000000000" pitchFamily="2" charset="2"/>
              <a:buChar char="v"/>
              <a:defRPr sz="2000">
                <a:solidFill>
                  <a:srgbClr val="333333"/>
                </a:solidFill>
                <a:latin typeface="Roboto"/>
              </a:defRPr>
            </a:pPr>
            <a:r>
              <a:rPr sz="2400" b="1" dirty="0" err="1"/>
              <a:t>MandirSync</a:t>
            </a:r>
            <a:r>
              <a:rPr sz="2400" b="1" dirty="0"/>
              <a:t> combines tradition + technology.</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Covers: Donations &gt; Sevas &gt; Inventory &gt; Assets &gt; Accounting.</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Flexible SaaS or Standalone deployment.</a:t>
            </a:r>
          </a:p>
          <a:p>
            <a:pPr marL="342900" indent="-342900">
              <a:spcAft>
                <a:spcPts val="1000"/>
              </a:spcAft>
              <a:buFont typeface="Wingdings" panose="05000000000000000000" pitchFamily="2" charset="2"/>
              <a:buChar char="v"/>
              <a:defRPr sz="2000">
                <a:solidFill>
                  <a:srgbClr val="333333"/>
                </a:solidFill>
                <a:latin typeface="Roboto"/>
              </a:defRPr>
            </a:pPr>
            <a:r>
              <a:rPr sz="2400" b="1" dirty="0"/>
              <a:t>Next steps: Demo with sample data, Auditor review, Phased rollout.</a:t>
            </a:r>
          </a:p>
        </p:txBody>
      </p:sp>
      <p:sp>
        <p:nvSpPr>
          <p:cNvPr id="6" name="TextBox 5"/>
          <p:cNvSpPr txBox="1"/>
          <p:nvPr/>
        </p:nvSpPr>
        <p:spPr>
          <a:xfrm>
            <a:off x="457200" y="5486400"/>
            <a:ext cx="5513048" cy="1200329"/>
          </a:xfrm>
          <a:prstGeom prst="rect">
            <a:avLst/>
          </a:prstGeom>
          <a:noFill/>
        </p:spPr>
        <p:txBody>
          <a:bodyPr wrap="none">
            <a:spAutoFit/>
          </a:bodyPr>
          <a:lstStyle/>
          <a:p>
            <a:pPr>
              <a:defRPr sz="1800" b="1">
                <a:solidFill>
                  <a:srgbClr val="138808"/>
                </a:solidFill>
              </a:defRPr>
            </a:pPr>
            <a:r>
              <a:rPr dirty="0"/>
              <a:t>Contact: </a:t>
            </a:r>
            <a:r>
              <a:rPr lang="en-IN" dirty="0"/>
              <a:t>       jayamurli1954@gmail.com</a:t>
            </a:r>
            <a:r>
              <a:rPr dirty="0"/>
              <a:t> </a:t>
            </a:r>
            <a:endParaRPr lang="en-IN" dirty="0"/>
          </a:p>
          <a:p>
            <a:pPr>
              <a:defRPr sz="1800" b="1">
                <a:solidFill>
                  <a:srgbClr val="138808"/>
                </a:solidFill>
              </a:defRPr>
            </a:pPr>
            <a:r>
              <a:rPr lang="en-IN" dirty="0"/>
              <a:t> Mobile:        +91 9444019106                                                </a:t>
            </a:r>
          </a:p>
          <a:p>
            <a:pPr>
              <a:defRPr sz="1800" b="1">
                <a:solidFill>
                  <a:srgbClr val="138808"/>
                </a:solidFill>
              </a:defRPr>
            </a:pPr>
            <a:r>
              <a:rPr dirty="0"/>
              <a:t> </a:t>
            </a:r>
            <a:r>
              <a:rPr lang="en-IN" dirty="0"/>
              <a:t>                                       </a:t>
            </a:r>
          </a:p>
          <a:p>
            <a:pPr>
              <a:defRPr sz="1800" b="1">
                <a:solidFill>
                  <a:srgbClr val="138808"/>
                </a:solidFill>
              </a:defRPr>
            </a:pPr>
            <a:r>
              <a:rPr lang="en-IN" dirty="0"/>
              <a:t>                                   </a:t>
            </a:r>
            <a:r>
              <a:rPr dirty="0" err="1"/>
              <a:t>Dhanyavaad</a:t>
            </a:r>
            <a:endParaRPr dirty="0"/>
          </a:p>
        </p:txBody>
      </p:sp>
    </p:spTree>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0941A018-FB9B-4401-A32C-7E04526866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106</TotalTime>
  <Words>1292</Words>
  <Application>Microsoft Office PowerPoint</Application>
  <PresentationFormat>On-screen Show (4:3)</PresentationFormat>
  <Paragraphs>191</Paragraphs>
  <Slides>29</Slides>
  <Notes>2</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Calibri Light</vt:lpstr>
      <vt:lpstr>Montserrat</vt:lpstr>
      <vt:lpstr>Roboto</vt:lpstr>
      <vt:lpstr>Wingdings</vt:lpstr>
      <vt:lpstr>Metropolitan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Muralidhar Rao</cp:lastModifiedBy>
  <cp:revision>4</cp:revision>
  <dcterms:created xsi:type="dcterms:W3CDTF">2013-01-27T09:14:16Z</dcterms:created>
  <dcterms:modified xsi:type="dcterms:W3CDTF">2025-11-27T07:32:54Z</dcterms:modified>
  <cp:category/>
</cp:coreProperties>
</file>